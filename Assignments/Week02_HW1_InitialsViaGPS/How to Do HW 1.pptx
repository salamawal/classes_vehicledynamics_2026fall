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61" r:id="rId6"/>
    <p:sldId id="260" r:id="rId7"/>
    <p:sldId id="276" r:id="rId8"/>
    <p:sldId id="262" r:id="rId9"/>
    <p:sldId id="264" r:id="rId10"/>
    <p:sldId id="265" r:id="rId11"/>
    <p:sldId id="266" r:id="rId12"/>
    <p:sldId id="267" r:id="rId13"/>
    <p:sldId id="268" r:id="rId14"/>
    <p:sldId id="269" r:id="rId15"/>
    <p:sldId id="271" r:id="rId16"/>
    <p:sldId id="270" r:id="rId17"/>
    <p:sldId id="273" r:id="rId18"/>
    <p:sldId id="275" r:id="rId19"/>
    <p:sldId id="272" r:id="rId20"/>
    <p:sldId id="274" r:id="rId21"/>
    <p:sldId id="25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5BA9DE-E6F8-4973-93F3-1C5D68FEC24B}">
          <p14:sldIdLst>
            <p14:sldId id="256"/>
          </p14:sldIdLst>
        </p14:section>
        <p14:section name="Collecting Data" id="{9CE6B5B9-313F-43DC-8090-D5FCCF4088D2}">
          <p14:sldIdLst>
            <p14:sldId id="263"/>
            <p14:sldId id="257"/>
            <p14:sldId id="258"/>
            <p14:sldId id="261"/>
            <p14:sldId id="260"/>
            <p14:sldId id="276"/>
            <p14:sldId id="262"/>
            <p14:sldId id="264"/>
            <p14:sldId id="265"/>
            <p14:sldId id="266"/>
            <p14:sldId id="267"/>
            <p14:sldId id="268"/>
            <p14:sldId id="269"/>
            <p14:sldId id="271"/>
            <p14:sldId id="270"/>
            <p14:sldId id="273"/>
            <p14:sldId id="275"/>
            <p14:sldId id="272"/>
            <p14:sldId id="274"/>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687C-1E5A-C477-C7A1-D805D43E8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F8943-AACD-EA19-9E04-3C6D59BBAB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AD17CB-8AC8-ED3A-547E-C1EB03A8B6D0}"/>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E87ECE58-FA70-55D2-F16F-C4A9D1C9E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32314-C77B-953D-8914-97739BA179A0}"/>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23618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31E9-DCAF-E793-8C6B-6A99A91F04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908653-6538-B716-378F-C82B5DE546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826E1-9A44-03C7-2E0F-30A6F4570F01}"/>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27943086-0AAC-5CDE-B2F2-60EC643F9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95CF3-EC1D-7FC1-41A5-40E1D4A9241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53783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C878B-0432-8535-0E1A-E4C90AE4E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60F1A1-9275-D58A-6EB4-91CE0C64CA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2007C0-63B3-54F9-904F-E42070A91349}"/>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ED020E03-D442-DD57-5360-F05B00BC3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F6EDD-FB7C-E427-7642-ECDE9A619483}"/>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93927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6D63E-24A6-D702-38A6-0E5505757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E1959-B8A7-70A1-43A1-E001CCBBF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42FDE8-6AB9-2FF6-5BDA-38A337EBC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719A55-F482-0EB9-D12E-3770E668F5D5}"/>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6" name="Footer Placeholder 5">
            <a:extLst>
              <a:ext uri="{FF2B5EF4-FFF2-40B4-BE49-F238E27FC236}">
                <a16:creationId xmlns:a16="http://schemas.microsoft.com/office/drawing/2014/main" id="{52B09042-0330-DF46-A27A-AAA59BC0AC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F7E33-BF77-E391-B757-5DDE66A54ABA}"/>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714434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586D-3146-76A8-C6D9-5B08A88B3E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C54EF3-1242-E5EB-E9BC-C8412C1D7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1E3CFC-1A67-F8E4-369F-EAA48C34B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7D1382-280F-6F14-38B0-87122017B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87FFC-F09D-0089-601D-7238B0C59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45EEDC-6202-C071-2121-B5E34CBAC8F4}"/>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8" name="Footer Placeholder 7">
            <a:extLst>
              <a:ext uri="{FF2B5EF4-FFF2-40B4-BE49-F238E27FC236}">
                <a16:creationId xmlns:a16="http://schemas.microsoft.com/office/drawing/2014/main" id="{17BA0365-03D1-70DC-F04E-F0294B18A3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66DAEF-F7C0-8741-EB83-4792E007CC51}"/>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738718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50D9-7A88-F828-C289-F66676BEE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92375D-9E2B-CC09-6F6E-93596AF48B9C}"/>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4" name="Footer Placeholder 3">
            <a:extLst>
              <a:ext uri="{FF2B5EF4-FFF2-40B4-BE49-F238E27FC236}">
                <a16:creationId xmlns:a16="http://schemas.microsoft.com/office/drawing/2014/main" id="{17EFC412-3207-866E-A15C-BAB57BBCC3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FC4C2C-D2B2-212E-12AE-6BA752B02D6C}"/>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980907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1A84D6-7EEB-CBAB-5E30-F2C8C0F95C55}"/>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3" name="Footer Placeholder 2">
            <a:extLst>
              <a:ext uri="{FF2B5EF4-FFF2-40B4-BE49-F238E27FC236}">
                <a16:creationId xmlns:a16="http://schemas.microsoft.com/office/drawing/2014/main" id="{3EF0ABE7-3E3C-7EEE-FCDA-12840BCCA9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6D7AEF-D86E-03D8-BC9D-A941404A07BF}"/>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862449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753C-0665-4CF1-8762-55799B3C9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B7732-F94D-393C-8DBD-C8766C784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261FA-1E71-B59B-78F5-B694BBF97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73BCD-7C61-5198-E593-3A182B9A0878}"/>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6" name="Footer Placeholder 5">
            <a:extLst>
              <a:ext uri="{FF2B5EF4-FFF2-40B4-BE49-F238E27FC236}">
                <a16:creationId xmlns:a16="http://schemas.microsoft.com/office/drawing/2014/main" id="{02E95019-00FD-3BC8-97E1-CB422847B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A47BC7-98FB-D904-10CF-648944995E9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29146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A15B-BFF2-614A-6536-6C7C912BC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2C2DDA-B6CA-C31D-914C-371805C1CC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03B10E-CC39-C5B4-873E-4B619DCF4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CDBCB-AD62-7FA7-926A-44B14F788931}"/>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6" name="Footer Placeholder 5">
            <a:extLst>
              <a:ext uri="{FF2B5EF4-FFF2-40B4-BE49-F238E27FC236}">
                <a16:creationId xmlns:a16="http://schemas.microsoft.com/office/drawing/2014/main" id="{6F98F9D4-0E8D-AE44-52A9-503AA321F4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147FA-CB90-EB80-DE11-6A9F7C2BF97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87259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E119-68F7-B796-12DE-E320C27996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EB10EF-951D-4AC1-08A4-C8ED50E28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E997F-3A0F-92FD-1F30-0E71ABBD727C}"/>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A2D34CD9-8D79-0DAC-2FBB-2971D5604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A2A2E-6926-B019-2AFB-357EEAFFD70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95725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518475-86B7-D938-E9AD-0A050582D2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796CFA-43BA-5591-0976-602B82CAE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4EEF37-D0B8-02D3-6CD8-D04049C39335}"/>
              </a:ext>
            </a:extLst>
          </p:cNvPr>
          <p:cNvSpPr>
            <a:spLocks noGrp="1"/>
          </p:cNvSpPr>
          <p:nvPr>
            <p:ph type="dt" sz="half" idx="10"/>
          </p:nvPr>
        </p:nvSpPr>
        <p:spPr/>
        <p:txBody>
          <a:body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34377E05-1651-C45E-5561-0D73127FD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4E0C4-6359-7C4D-076E-C8AA2025C67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58379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77A6F-F764-852A-9F79-41797AA1C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6EBFBC-6144-AECD-7E1D-9C3900DFC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73465-3270-ED92-8A42-776C03DBEF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3663BE-23BB-44AC-8300-69C1BB94E401}" type="datetimeFigureOut">
              <a:rPr lang="en-US" smtClean="0"/>
              <a:t>9/18/2026</a:t>
            </a:fld>
            <a:endParaRPr lang="en-US"/>
          </a:p>
        </p:txBody>
      </p:sp>
      <p:sp>
        <p:nvSpPr>
          <p:cNvPr id="5" name="Footer Placeholder 4">
            <a:extLst>
              <a:ext uri="{FF2B5EF4-FFF2-40B4-BE49-F238E27FC236}">
                <a16:creationId xmlns:a16="http://schemas.microsoft.com/office/drawing/2014/main" id="{A539EF75-7D44-F445-FFCA-AE56C52E1B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6380F5-77E7-058C-FA52-489ED98C3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7AF755-5B4F-4502-934C-A16B76FE8F7F}" type="slidenum">
              <a:rPr lang="en-US" smtClean="0"/>
              <a:t>‹#›</a:t>
            </a:fld>
            <a:endParaRPr lang="en-US"/>
          </a:p>
        </p:txBody>
      </p:sp>
    </p:spTree>
    <p:extLst>
      <p:ext uri="{BB962C8B-B14F-4D97-AF65-F5344CB8AC3E}">
        <p14:creationId xmlns:p14="http://schemas.microsoft.com/office/powerpoint/2010/main" val="1230496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mathworks.com/products/matlab-mobile.html" TargetMode="External"/><Relationship Id="rId2" Type="http://schemas.openxmlformats.org/officeDocument/2006/relationships/hyperlink" Target="https://www.mathworks.com/help/matlabmobile/ug/install-matlab-mobile-on-your-device.html" TargetMode="External"/><Relationship Id="rId1" Type="http://schemas.openxmlformats.org/officeDocument/2006/relationships/slideLayout" Target="../slideLayouts/slideLayout2.xml"/><Relationship Id="rId4" Type="http://schemas.openxmlformats.org/officeDocument/2006/relationships/hyperlink" Target="https://www.youtube.com/watch?v=kHi1VSjp-EQ&amp;t=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mathworks.com/help/matlabmobile/ug/acquire-gps-data-and-plot-your-location-and-speed-on-a-map.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301F-E7F0-A12F-DC40-56E5B1B33E82}"/>
              </a:ext>
            </a:extLst>
          </p:cNvPr>
          <p:cNvSpPr>
            <a:spLocks noGrp="1"/>
          </p:cNvSpPr>
          <p:nvPr>
            <p:ph type="ctrTitle"/>
          </p:nvPr>
        </p:nvSpPr>
        <p:spPr/>
        <p:txBody>
          <a:bodyPr>
            <a:normAutofit fontScale="90000"/>
          </a:bodyPr>
          <a:lstStyle/>
          <a:p>
            <a:r>
              <a:rPr lang="en-US" dirty="0"/>
              <a:t>How to Do HW 1</a:t>
            </a:r>
            <a:br>
              <a:rPr lang="en-US" dirty="0"/>
            </a:br>
            <a:r>
              <a:rPr lang="en-US" dirty="0"/>
              <a:t>Recording and Plotting GPS Data from Your Phone</a:t>
            </a:r>
          </a:p>
        </p:txBody>
      </p:sp>
      <p:sp>
        <p:nvSpPr>
          <p:cNvPr id="3" name="Subtitle 2">
            <a:extLst>
              <a:ext uri="{FF2B5EF4-FFF2-40B4-BE49-F238E27FC236}">
                <a16:creationId xmlns:a16="http://schemas.microsoft.com/office/drawing/2014/main" id="{08BEADDF-50CF-7A27-83DD-C721F3BEDE2D}"/>
              </a:ext>
            </a:extLst>
          </p:cNvPr>
          <p:cNvSpPr>
            <a:spLocks noGrp="1"/>
          </p:cNvSpPr>
          <p:nvPr>
            <p:ph type="subTitle" idx="1"/>
          </p:nvPr>
        </p:nvSpPr>
        <p:spPr/>
        <p:txBody>
          <a:bodyPr/>
          <a:lstStyle/>
          <a:p>
            <a:r>
              <a:rPr lang="en-US" dirty="0"/>
              <a:t>ME 452 – Vehicle Dynamics, Fall 2026</a:t>
            </a:r>
          </a:p>
        </p:txBody>
      </p:sp>
    </p:spTree>
    <p:extLst>
      <p:ext uri="{BB962C8B-B14F-4D97-AF65-F5344CB8AC3E}">
        <p14:creationId xmlns:p14="http://schemas.microsoft.com/office/powerpoint/2010/main" val="316151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35452-53AA-7D6B-4390-4037B1C286A1}"/>
              </a:ext>
            </a:extLst>
          </p:cNvPr>
          <p:cNvSpPr>
            <a:spLocks noGrp="1"/>
          </p:cNvSpPr>
          <p:nvPr>
            <p:ph type="title"/>
          </p:nvPr>
        </p:nvSpPr>
        <p:spPr/>
        <p:txBody>
          <a:bodyPr/>
          <a:lstStyle/>
          <a:p>
            <a:r>
              <a:rPr lang="en-US" dirty="0"/>
              <a:t>Collect some data!</a:t>
            </a:r>
          </a:p>
        </p:txBody>
      </p:sp>
      <p:sp>
        <p:nvSpPr>
          <p:cNvPr id="3" name="Content Placeholder 2">
            <a:extLst>
              <a:ext uri="{FF2B5EF4-FFF2-40B4-BE49-F238E27FC236}">
                <a16:creationId xmlns:a16="http://schemas.microsoft.com/office/drawing/2014/main" id="{EAB0B1E3-8EFA-71A7-96E7-33AC7E0D81E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18298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E7031-A218-65D9-5D31-E5C35B8076D9}"/>
              </a:ext>
            </a:extLst>
          </p:cNvPr>
          <p:cNvSpPr>
            <a:spLocks noGrp="1"/>
          </p:cNvSpPr>
          <p:nvPr>
            <p:ph type="title"/>
          </p:nvPr>
        </p:nvSpPr>
        <p:spPr/>
        <p:txBody>
          <a:bodyPr/>
          <a:lstStyle/>
          <a:p>
            <a:r>
              <a:rPr lang="en-US" dirty="0"/>
              <a:t>First step: install the MATLAB app on your phone</a:t>
            </a:r>
          </a:p>
        </p:txBody>
      </p:sp>
      <p:sp>
        <p:nvSpPr>
          <p:cNvPr id="3" name="Content Placeholder 2">
            <a:extLst>
              <a:ext uri="{FF2B5EF4-FFF2-40B4-BE49-F238E27FC236}">
                <a16:creationId xmlns:a16="http://schemas.microsoft.com/office/drawing/2014/main" id="{7D0505B6-A811-9C59-92B0-5657B36A033B}"/>
              </a:ext>
            </a:extLst>
          </p:cNvPr>
          <p:cNvSpPr>
            <a:spLocks noGrp="1"/>
          </p:cNvSpPr>
          <p:nvPr>
            <p:ph idx="1"/>
          </p:nvPr>
        </p:nvSpPr>
        <p:spPr/>
        <p:txBody>
          <a:bodyPr>
            <a:normAutofit fontScale="55000" lnSpcReduction="20000"/>
          </a:bodyPr>
          <a:lstStyle/>
          <a:p>
            <a:pPr marL="0" indent="0">
              <a:buNone/>
            </a:pPr>
            <a:r>
              <a:rPr lang="en-US" dirty="0"/>
              <a:t>(from </a:t>
            </a:r>
            <a:r>
              <a:rPr lang="en-US" dirty="0">
                <a:hlinkClick r:id="rId2"/>
              </a:rPr>
              <a:t>https://www.mathworks.com/help/matlabmobile/ug/install-matlab-mobile-on-your-device.html</a:t>
            </a:r>
            <a:r>
              <a:rPr lang="en-US" dirty="0"/>
              <a:t> )</a:t>
            </a:r>
          </a:p>
          <a:p>
            <a:pPr marL="0" indent="0">
              <a:buNone/>
            </a:pPr>
            <a:r>
              <a:rPr lang="en-US" dirty="0"/>
              <a:t>Install MATLAB Mobile on Your Device: The MATLAB</a:t>
            </a:r>
            <a:r>
              <a:rPr lang="en-US" baseline="30000" dirty="0"/>
              <a:t>®</a:t>
            </a:r>
            <a:r>
              <a:rPr lang="en-US" dirty="0"/>
              <a:t> Mobile™ app is available in the Apple App Store</a:t>
            </a:r>
            <a:r>
              <a:rPr lang="en-US" baseline="30000" dirty="0"/>
              <a:t>®</a:t>
            </a:r>
            <a:r>
              <a:rPr lang="en-US" dirty="0"/>
              <a:t> and in Google Play</a:t>
            </a:r>
            <a:r>
              <a:rPr lang="en-US" baseline="30000" dirty="0"/>
              <a:t>®</a:t>
            </a:r>
            <a:r>
              <a:rPr lang="en-US" dirty="0"/>
              <a:t>.</a:t>
            </a:r>
          </a:p>
          <a:p>
            <a:pPr marL="0" indent="0">
              <a:buNone/>
            </a:pPr>
            <a:r>
              <a:rPr lang="en-US" dirty="0"/>
              <a:t>To download the MATLAB Mobile app on your device:</a:t>
            </a:r>
          </a:p>
          <a:p>
            <a:pPr marL="514350" lvl="0" indent="-514350">
              <a:buFont typeface="+mj-lt"/>
              <a:buAutoNum type="arabicPeriod"/>
            </a:pPr>
            <a:r>
              <a:rPr lang="en-US" dirty="0"/>
              <a:t>Start the App Store or Google Play app on your device.</a:t>
            </a:r>
          </a:p>
          <a:p>
            <a:pPr marL="514350" lvl="0" indent="-514350">
              <a:buFont typeface="+mj-lt"/>
              <a:buAutoNum type="arabicPeriod"/>
            </a:pPr>
            <a:r>
              <a:rPr lang="en-US" dirty="0"/>
              <a:t>Search the store using the term MATLAB Mobile.</a:t>
            </a:r>
          </a:p>
          <a:p>
            <a:pPr marL="514350" lvl="0" indent="-514350">
              <a:buFont typeface="+mj-lt"/>
              <a:buAutoNum type="arabicPeriod"/>
            </a:pPr>
            <a:r>
              <a:rPr lang="en-US" dirty="0"/>
              <a:t>To begin free installation of the app onto your device:</a:t>
            </a:r>
          </a:p>
          <a:p>
            <a:pPr lvl="1"/>
            <a:r>
              <a:rPr lang="en-US" dirty="0"/>
              <a:t>On Android devices: Tap </a:t>
            </a:r>
            <a:r>
              <a:rPr lang="en-US" b="1" dirty="0"/>
              <a:t>Install</a:t>
            </a:r>
            <a:endParaRPr lang="en-US" dirty="0"/>
          </a:p>
          <a:p>
            <a:pPr lvl="1"/>
            <a:r>
              <a:rPr lang="en-US" dirty="0"/>
              <a:t>On Apple devices: Tap the download icon. In some cases, the iTunes application might request your password to complete the transaction.</a:t>
            </a:r>
          </a:p>
          <a:p>
            <a:pPr marL="514350" lvl="0" indent="-514350">
              <a:buFont typeface="+mj-lt"/>
              <a:buAutoNum type="arabicPeriod"/>
            </a:pPr>
            <a:r>
              <a:rPr lang="en-US" dirty="0"/>
              <a:t>When the installation is complete, you can tap </a:t>
            </a:r>
            <a:r>
              <a:rPr lang="en-US" b="1" dirty="0"/>
              <a:t>Open</a:t>
            </a:r>
            <a:r>
              <a:rPr lang="en-US" dirty="0"/>
              <a:t> to start MATLAB Mobile on your device.</a:t>
            </a:r>
          </a:p>
          <a:p>
            <a:pPr marL="0" indent="0">
              <a:buNone/>
            </a:pPr>
            <a:r>
              <a:rPr lang="en-US" dirty="0"/>
              <a:t>Alternatively, for Apple devices you can access the App Store from iTunes software on your computer.</a:t>
            </a:r>
          </a:p>
          <a:p>
            <a:pPr marL="0" indent="0">
              <a:buNone/>
            </a:pPr>
            <a:br>
              <a:rPr lang="en-US" b="1" dirty="0"/>
            </a:br>
            <a:br>
              <a:rPr lang="en-US" b="1" dirty="0"/>
            </a:br>
            <a:r>
              <a:rPr lang="en-US" b="1" dirty="0"/>
              <a:t>Sign In and Setup</a:t>
            </a:r>
          </a:p>
          <a:p>
            <a:pPr lvl="0"/>
            <a:r>
              <a:rPr lang="en-US" dirty="0"/>
              <a:t>Tap </a:t>
            </a:r>
            <a:r>
              <a:rPr lang="en-US" b="1" dirty="0"/>
              <a:t>Continue</a:t>
            </a:r>
            <a:r>
              <a:rPr lang="en-US" dirty="0"/>
              <a:t> when you open the app.</a:t>
            </a:r>
          </a:p>
          <a:p>
            <a:pPr lvl="0"/>
            <a:r>
              <a:rPr lang="en-US" dirty="0"/>
              <a:t>Sign in with your </a:t>
            </a:r>
            <a:r>
              <a:rPr lang="en-US" b="1" dirty="0"/>
              <a:t>MathWorks Account</a:t>
            </a:r>
            <a:r>
              <a:rPr lang="en-US" dirty="0"/>
              <a:t> or create a new one.</a:t>
            </a:r>
          </a:p>
          <a:p>
            <a:pPr lvl="0"/>
            <a:r>
              <a:rPr lang="en-US" dirty="0"/>
              <a:t>Link a valid </a:t>
            </a:r>
            <a:r>
              <a:rPr lang="en-US" b="1" dirty="0"/>
              <a:t>MATLAB license</a:t>
            </a:r>
            <a:r>
              <a:rPr lang="en-US" dirty="0"/>
              <a:t> or active trial to use full features, or use the free cloud storage option. [</a:t>
            </a:r>
            <a:r>
              <a:rPr lang="en-US" dirty="0">
                <a:hlinkClick r:id="rId3"/>
              </a:rPr>
              <a:t>1</a:t>
            </a:r>
            <a:r>
              <a:rPr lang="en-US" dirty="0"/>
              <a:t>, </a:t>
            </a:r>
            <a:r>
              <a:rPr lang="en-US" dirty="0">
                <a:hlinkClick r:id="rId4"/>
              </a:rPr>
              <a:t>2</a:t>
            </a:r>
            <a:r>
              <a:rPr lang="en-US" dirty="0"/>
              <a:t>]</a:t>
            </a:r>
          </a:p>
          <a:p>
            <a:pPr marL="0" indent="0">
              <a:buNone/>
            </a:pPr>
            <a:endParaRPr lang="en-US" dirty="0"/>
          </a:p>
        </p:txBody>
      </p:sp>
    </p:spTree>
    <p:extLst>
      <p:ext uri="{BB962C8B-B14F-4D97-AF65-F5344CB8AC3E}">
        <p14:creationId xmlns:p14="http://schemas.microsoft.com/office/powerpoint/2010/main" val="162571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7683-456C-E9CD-9E21-4F4EF7E6EC06}"/>
              </a:ext>
            </a:extLst>
          </p:cNvPr>
          <p:cNvSpPr>
            <a:spLocks noGrp="1"/>
          </p:cNvSpPr>
          <p:nvPr>
            <p:ph type="title"/>
          </p:nvPr>
        </p:nvSpPr>
        <p:spPr/>
        <p:txBody>
          <a:bodyPr/>
          <a:lstStyle/>
          <a:p>
            <a:r>
              <a:rPr lang="en-US" dirty="0"/>
              <a:t>Next, record data. Open up the sensors panel via the drop-down menu:</a:t>
            </a:r>
          </a:p>
        </p:txBody>
      </p:sp>
      <p:pic>
        <p:nvPicPr>
          <p:cNvPr id="5" name="Picture 4">
            <a:extLst>
              <a:ext uri="{FF2B5EF4-FFF2-40B4-BE49-F238E27FC236}">
                <a16:creationId xmlns:a16="http://schemas.microsoft.com/office/drawing/2014/main" id="{270CF90E-6817-A84E-BE81-30CB6EE42233}"/>
              </a:ext>
            </a:extLst>
          </p:cNvPr>
          <p:cNvPicPr>
            <a:picLocks noChangeAspect="1"/>
          </p:cNvPicPr>
          <p:nvPr/>
        </p:nvPicPr>
        <p:blipFill>
          <a:blip r:embed="rId2"/>
          <a:stretch>
            <a:fillRect/>
          </a:stretch>
        </p:blipFill>
        <p:spPr>
          <a:xfrm>
            <a:off x="2418705" y="2146300"/>
            <a:ext cx="2024648" cy="4502150"/>
          </a:xfrm>
          <a:prstGeom prst="rect">
            <a:avLst/>
          </a:prstGeom>
        </p:spPr>
      </p:pic>
      <p:pic>
        <p:nvPicPr>
          <p:cNvPr id="7" name="Picture 6">
            <a:extLst>
              <a:ext uri="{FF2B5EF4-FFF2-40B4-BE49-F238E27FC236}">
                <a16:creationId xmlns:a16="http://schemas.microsoft.com/office/drawing/2014/main" id="{CADAE60F-BA44-F1E9-1BF5-971BC1F05334}"/>
              </a:ext>
            </a:extLst>
          </p:cNvPr>
          <p:cNvPicPr>
            <a:picLocks noChangeAspect="1"/>
          </p:cNvPicPr>
          <p:nvPr/>
        </p:nvPicPr>
        <p:blipFill>
          <a:blip r:embed="rId3"/>
          <a:stretch>
            <a:fillRect/>
          </a:stretch>
        </p:blipFill>
        <p:spPr>
          <a:xfrm>
            <a:off x="6584608" y="1955800"/>
            <a:ext cx="1993237" cy="4432300"/>
          </a:xfrm>
          <a:prstGeom prst="rect">
            <a:avLst/>
          </a:prstGeom>
        </p:spPr>
      </p:pic>
      <p:sp>
        <p:nvSpPr>
          <p:cNvPr id="8" name="Arrow: Right 7">
            <a:extLst>
              <a:ext uri="{FF2B5EF4-FFF2-40B4-BE49-F238E27FC236}">
                <a16:creationId xmlns:a16="http://schemas.microsoft.com/office/drawing/2014/main" id="{26893BF2-5217-3E24-87BE-BB8D529CD0DD}"/>
              </a:ext>
            </a:extLst>
          </p:cNvPr>
          <p:cNvSpPr/>
          <p:nvPr/>
        </p:nvSpPr>
        <p:spPr>
          <a:xfrm>
            <a:off x="5060950" y="3562350"/>
            <a:ext cx="1231900" cy="9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035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7683-456C-E9CD-9E21-4F4EF7E6EC06}"/>
              </a:ext>
            </a:extLst>
          </p:cNvPr>
          <p:cNvSpPr>
            <a:spLocks noGrp="1"/>
          </p:cNvSpPr>
          <p:nvPr>
            <p:ph type="title"/>
          </p:nvPr>
        </p:nvSpPr>
        <p:spPr>
          <a:xfrm>
            <a:off x="196850" y="365125"/>
            <a:ext cx="11855450" cy="1325563"/>
          </a:xfrm>
        </p:spPr>
        <p:txBody>
          <a:bodyPr>
            <a:normAutofit fontScale="90000"/>
          </a:bodyPr>
          <a:lstStyle/>
          <a:p>
            <a:r>
              <a:rPr lang="en-US" dirty="0"/>
              <a:t>Make sure the Stream-to is set to “Log”. In the “Sampling Parameters”, set the speed to 100Hz (fastest possible), and turn on all sensors except microphone.</a:t>
            </a:r>
          </a:p>
        </p:txBody>
      </p:sp>
      <p:pic>
        <p:nvPicPr>
          <p:cNvPr id="4" name="Picture 3">
            <a:extLst>
              <a:ext uri="{FF2B5EF4-FFF2-40B4-BE49-F238E27FC236}">
                <a16:creationId xmlns:a16="http://schemas.microsoft.com/office/drawing/2014/main" id="{4AB7688A-6473-D986-C138-E682E0094F85}"/>
              </a:ext>
            </a:extLst>
          </p:cNvPr>
          <p:cNvPicPr>
            <a:picLocks noChangeAspect="1"/>
          </p:cNvPicPr>
          <p:nvPr/>
        </p:nvPicPr>
        <p:blipFill>
          <a:blip r:embed="rId2"/>
          <a:stretch>
            <a:fillRect/>
          </a:stretch>
        </p:blipFill>
        <p:spPr>
          <a:xfrm>
            <a:off x="1904508" y="2044699"/>
            <a:ext cx="1644849" cy="3657600"/>
          </a:xfrm>
          <a:prstGeom prst="rect">
            <a:avLst/>
          </a:prstGeom>
        </p:spPr>
      </p:pic>
      <p:pic>
        <p:nvPicPr>
          <p:cNvPr id="9" name="Picture 8">
            <a:extLst>
              <a:ext uri="{FF2B5EF4-FFF2-40B4-BE49-F238E27FC236}">
                <a16:creationId xmlns:a16="http://schemas.microsoft.com/office/drawing/2014/main" id="{56655670-C6D3-593B-BC84-A785B67B8651}"/>
              </a:ext>
            </a:extLst>
          </p:cNvPr>
          <p:cNvPicPr>
            <a:picLocks noChangeAspect="1"/>
          </p:cNvPicPr>
          <p:nvPr/>
        </p:nvPicPr>
        <p:blipFill>
          <a:blip r:embed="rId3"/>
          <a:stretch>
            <a:fillRect/>
          </a:stretch>
        </p:blipFill>
        <p:spPr>
          <a:xfrm>
            <a:off x="3963109" y="2044699"/>
            <a:ext cx="1644848" cy="3657600"/>
          </a:xfrm>
          <a:prstGeom prst="rect">
            <a:avLst/>
          </a:prstGeom>
        </p:spPr>
      </p:pic>
      <p:pic>
        <p:nvPicPr>
          <p:cNvPr id="11" name="Picture 10">
            <a:extLst>
              <a:ext uri="{FF2B5EF4-FFF2-40B4-BE49-F238E27FC236}">
                <a16:creationId xmlns:a16="http://schemas.microsoft.com/office/drawing/2014/main" id="{E912D99C-7CEE-B82A-A459-420767D29941}"/>
              </a:ext>
            </a:extLst>
          </p:cNvPr>
          <p:cNvPicPr>
            <a:picLocks noChangeAspect="1"/>
          </p:cNvPicPr>
          <p:nvPr/>
        </p:nvPicPr>
        <p:blipFill>
          <a:blip r:embed="rId4"/>
          <a:stretch>
            <a:fillRect/>
          </a:stretch>
        </p:blipFill>
        <p:spPr>
          <a:xfrm>
            <a:off x="6021709" y="2044699"/>
            <a:ext cx="1644849" cy="3657600"/>
          </a:xfrm>
          <a:prstGeom prst="rect">
            <a:avLst/>
          </a:prstGeom>
        </p:spPr>
      </p:pic>
      <p:pic>
        <p:nvPicPr>
          <p:cNvPr id="13" name="Picture 12">
            <a:extLst>
              <a:ext uri="{FF2B5EF4-FFF2-40B4-BE49-F238E27FC236}">
                <a16:creationId xmlns:a16="http://schemas.microsoft.com/office/drawing/2014/main" id="{BC942760-97B4-223F-C4C3-C0F7FB4B3839}"/>
              </a:ext>
            </a:extLst>
          </p:cNvPr>
          <p:cNvPicPr>
            <a:picLocks noChangeAspect="1"/>
          </p:cNvPicPr>
          <p:nvPr/>
        </p:nvPicPr>
        <p:blipFill>
          <a:blip r:embed="rId5"/>
          <a:stretch>
            <a:fillRect/>
          </a:stretch>
        </p:blipFill>
        <p:spPr>
          <a:xfrm>
            <a:off x="8442260" y="2044699"/>
            <a:ext cx="1644849" cy="3657600"/>
          </a:xfrm>
          <a:prstGeom prst="rect">
            <a:avLst/>
          </a:prstGeom>
        </p:spPr>
      </p:pic>
    </p:spTree>
    <p:extLst>
      <p:ext uri="{BB962C8B-B14F-4D97-AF65-F5344CB8AC3E}">
        <p14:creationId xmlns:p14="http://schemas.microsoft.com/office/powerpoint/2010/main" val="2420187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5EA0E-0AB7-5D4B-4F1E-F1F78BFF5E0D}"/>
              </a:ext>
            </a:extLst>
          </p:cNvPr>
          <p:cNvSpPr>
            <a:spLocks noGrp="1"/>
          </p:cNvSpPr>
          <p:nvPr>
            <p:ph type="title"/>
          </p:nvPr>
        </p:nvSpPr>
        <p:spPr/>
        <p:txBody>
          <a:bodyPr>
            <a:normAutofit fontScale="90000"/>
          </a:bodyPr>
          <a:lstStyle/>
          <a:p>
            <a:r>
              <a:rPr lang="en-US" dirty="0"/>
              <a:t>When you are ready to record, </a:t>
            </a:r>
            <a:r>
              <a:rPr lang="en-US" dirty="0">
                <a:solidFill>
                  <a:srgbClr val="00B050"/>
                </a:solidFill>
              </a:rPr>
              <a:t>hit “Start”. </a:t>
            </a:r>
            <a:r>
              <a:rPr lang="en-US" dirty="0"/>
              <a:t>When you are done, hit “Stop”. The logs </a:t>
            </a:r>
            <a:r>
              <a:rPr lang="en-US" dirty="0">
                <a:solidFill>
                  <a:srgbClr val="FF0000"/>
                </a:solidFill>
              </a:rPr>
              <a:t>will update</a:t>
            </a:r>
            <a:r>
              <a:rPr lang="en-US" dirty="0"/>
              <a:t>.</a:t>
            </a:r>
          </a:p>
        </p:txBody>
      </p:sp>
      <p:pic>
        <p:nvPicPr>
          <p:cNvPr id="5" name="Picture 4">
            <a:extLst>
              <a:ext uri="{FF2B5EF4-FFF2-40B4-BE49-F238E27FC236}">
                <a16:creationId xmlns:a16="http://schemas.microsoft.com/office/drawing/2014/main" id="{AC1C1495-1844-8B31-6B63-1E0E03AAEDA5}"/>
              </a:ext>
            </a:extLst>
          </p:cNvPr>
          <p:cNvPicPr>
            <a:picLocks noChangeAspect="1"/>
          </p:cNvPicPr>
          <p:nvPr/>
        </p:nvPicPr>
        <p:blipFill>
          <a:blip r:embed="rId2"/>
          <a:stretch>
            <a:fillRect/>
          </a:stretch>
        </p:blipFill>
        <p:spPr>
          <a:xfrm>
            <a:off x="3777908" y="1879600"/>
            <a:ext cx="1993237" cy="4432300"/>
          </a:xfrm>
          <a:prstGeom prst="rect">
            <a:avLst/>
          </a:prstGeom>
        </p:spPr>
      </p:pic>
      <p:sp>
        <p:nvSpPr>
          <p:cNvPr id="7" name="Arrow: Right 6">
            <a:extLst>
              <a:ext uri="{FF2B5EF4-FFF2-40B4-BE49-F238E27FC236}">
                <a16:creationId xmlns:a16="http://schemas.microsoft.com/office/drawing/2014/main" id="{F7329499-0FA2-FC7D-097E-EDE455DAE517}"/>
              </a:ext>
            </a:extLst>
          </p:cNvPr>
          <p:cNvSpPr/>
          <p:nvPr/>
        </p:nvSpPr>
        <p:spPr>
          <a:xfrm>
            <a:off x="3161958" y="5495925"/>
            <a:ext cx="1231900" cy="920750"/>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72F5592-EB53-E841-4039-B225118EE914}"/>
              </a:ext>
            </a:extLst>
          </p:cNvPr>
          <p:cNvSpPr/>
          <p:nvPr/>
        </p:nvSpPr>
        <p:spPr>
          <a:xfrm rot="10800000">
            <a:off x="5804907" y="2590800"/>
            <a:ext cx="1231900" cy="92075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671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D934-F57A-893A-03E8-FCA5D1C04B5D}"/>
              </a:ext>
            </a:extLst>
          </p:cNvPr>
          <p:cNvSpPr>
            <a:spLocks noGrp="1"/>
          </p:cNvSpPr>
          <p:nvPr>
            <p:ph type="title"/>
          </p:nvPr>
        </p:nvSpPr>
        <p:spPr/>
        <p:txBody>
          <a:bodyPr>
            <a:normAutofit fontScale="90000"/>
          </a:bodyPr>
          <a:lstStyle/>
          <a:p>
            <a:r>
              <a:rPr lang="en-US" dirty="0"/>
              <a:t>Critical note: the data will NOT record if the MATLAB app is not the active app on the phone.	</a:t>
            </a:r>
          </a:p>
        </p:txBody>
      </p:sp>
      <p:sp>
        <p:nvSpPr>
          <p:cNvPr id="3" name="Content Placeholder 2">
            <a:extLst>
              <a:ext uri="{FF2B5EF4-FFF2-40B4-BE49-F238E27FC236}">
                <a16:creationId xmlns:a16="http://schemas.microsoft.com/office/drawing/2014/main" id="{5BD06BAB-A6C0-E41C-2B0C-E505094A33A1}"/>
              </a:ext>
            </a:extLst>
          </p:cNvPr>
          <p:cNvSpPr>
            <a:spLocks noGrp="1"/>
          </p:cNvSpPr>
          <p:nvPr>
            <p:ph idx="1"/>
          </p:nvPr>
        </p:nvSpPr>
        <p:spPr/>
        <p:txBody>
          <a:bodyPr/>
          <a:lstStyle/>
          <a:p>
            <a:pPr marL="0" indent="0">
              <a:buNone/>
            </a:pPr>
            <a:r>
              <a:rPr lang="en-US" dirty="0"/>
              <a:t>Dr. B learned this the hard way by recording, repeatedly, data but then opening up his map to check his location. </a:t>
            </a:r>
            <a:br>
              <a:rPr lang="en-US" dirty="0"/>
            </a:br>
            <a:endParaRPr lang="en-US" dirty="0"/>
          </a:p>
          <a:p>
            <a:pPr marL="0" indent="0">
              <a:buNone/>
            </a:pPr>
            <a:r>
              <a:rPr lang="en-US" dirty="0"/>
              <a:t>So you’ll have to drive “blind”, namely keeping the MATLAB app on top of your phone’s apps. So learn the route you plan to take, plan the locations to start and stop (do this with the vehicle stopped!), start the app, and then don’t touch your phone while driving.</a:t>
            </a:r>
          </a:p>
          <a:p>
            <a:pPr marL="0" indent="0">
              <a:buNone/>
            </a:pPr>
            <a:r>
              <a:rPr lang="en-US" dirty="0"/>
              <a:t>And above all – be safe. A better option: have someone drive you (as the passenger) for your data recording!</a:t>
            </a:r>
          </a:p>
        </p:txBody>
      </p:sp>
    </p:spTree>
    <p:extLst>
      <p:ext uri="{BB962C8B-B14F-4D97-AF65-F5344CB8AC3E}">
        <p14:creationId xmlns:p14="http://schemas.microsoft.com/office/powerpoint/2010/main" val="1138870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34A67-3A77-D361-ED61-BFB6ABEFDD15}"/>
              </a:ext>
            </a:extLst>
          </p:cNvPr>
          <p:cNvSpPr>
            <a:spLocks noGrp="1"/>
          </p:cNvSpPr>
          <p:nvPr>
            <p:ph type="title"/>
          </p:nvPr>
        </p:nvSpPr>
        <p:spPr/>
        <p:txBody>
          <a:bodyPr/>
          <a:lstStyle/>
          <a:p>
            <a:r>
              <a:rPr lang="en-US" dirty="0"/>
              <a:t>Move the data from the cloud to your homework folder</a:t>
            </a:r>
          </a:p>
        </p:txBody>
      </p:sp>
      <p:sp>
        <p:nvSpPr>
          <p:cNvPr id="3" name="Content Placeholder 2">
            <a:extLst>
              <a:ext uri="{FF2B5EF4-FFF2-40B4-BE49-F238E27FC236}">
                <a16:creationId xmlns:a16="http://schemas.microsoft.com/office/drawing/2014/main" id="{385461AE-7993-A1FB-2942-82D3C1133E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1505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3AFF5-0A1D-C3DD-124B-6DCE2A6019ED}"/>
              </a:ext>
            </a:extLst>
          </p:cNvPr>
          <p:cNvSpPr>
            <a:spLocks noGrp="1"/>
          </p:cNvSpPr>
          <p:nvPr>
            <p:ph type="title"/>
          </p:nvPr>
        </p:nvSpPr>
        <p:spPr/>
        <p:txBody>
          <a:bodyPr/>
          <a:lstStyle/>
          <a:p>
            <a:r>
              <a:rPr lang="en-US" dirty="0"/>
              <a:t>On the computer (NOT your phone)</a:t>
            </a:r>
          </a:p>
        </p:txBody>
      </p:sp>
      <p:sp>
        <p:nvSpPr>
          <p:cNvPr id="3" name="Content Placeholder 2">
            <a:extLst>
              <a:ext uri="{FF2B5EF4-FFF2-40B4-BE49-F238E27FC236}">
                <a16:creationId xmlns:a16="http://schemas.microsoft.com/office/drawing/2014/main" id="{52DE5860-7F33-D816-B4A0-A664EE0A3ADE}"/>
              </a:ext>
            </a:extLst>
          </p:cNvPr>
          <p:cNvSpPr>
            <a:spLocks noGrp="1"/>
          </p:cNvSpPr>
          <p:nvPr>
            <p:ph idx="1"/>
          </p:nvPr>
        </p:nvSpPr>
        <p:spPr>
          <a:xfrm>
            <a:off x="838200" y="1825625"/>
            <a:ext cx="2838450" cy="4351338"/>
          </a:xfrm>
        </p:spPr>
        <p:txBody>
          <a:bodyPr>
            <a:normAutofit lnSpcReduction="10000"/>
          </a:bodyPr>
          <a:lstStyle/>
          <a:p>
            <a:pPr marL="0" indent="0">
              <a:buNone/>
            </a:pPr>
            <a:r>
              <a:rPr lang="en-US" dirty="0"/>
              <a:t>Click on the Cloud Icon.</a:t>
            </a:r>
          </a:p>
          <a:p>
            <a:pPr marL="0" indent="0">
              <a:buNone/>
            </a:pPr>
            <a:r>
              <a:rPr lang="en-US" dirty="0"/>
              <a:t>It’s the folder with the lightning cloud in the bottom right.</a:t>
            </a:r>
          </a:p>
          <a:p>
            <a:pPr marL="0" indent="0">
              <a:buNone/>
            </a:pPr>
            <a:r>
              <a:rPr lang="en-US" dirty="0"/>
              <a:t>NOTE: I </a:t>
            </a:r>
            <a:r>
              <a:rPr lang="en-US" u="sng" dirty="0"/>
              <a:t>had</a:t>
            </a:r>
            <a:r>
              <a:rPr lang="en-US" dirty="0"/>
              <a:t> to install bug updates for mine to show up in 2025b</a:t>
            </a:r>
          </a:p>
        </p:txBody>
      </p:sp>
      <p:pic>
        <p:nvPicPr>
          <p:cNvPr id="7" name="Picture 6">
            <a:extLst>
              <a:ext uri="{FF2B5EF4-FFF2-40B4-BE49-F238E27FC236}">
                <a16:creationId xmlns:a16="http://schemas.microsoft.com/office/drawing/2014/main" id="{98F053A7-F831-062F-B066-6848D2B0151D}"/>
              </a:ext>
            </a:extLst>
          </p:cNvPr>
          <p:cNvPicPr>
            <a:picLocks noChangeAspect="1"/>
          </p:cNvPicPr>
          <p:nvPr/>
        </p:nvPicPr>
        <p:blipFill>
          <a:blip r:embed="rId2"/>
          <a:stretch>
            <a:fillRect/>
          </a:stretch>
        </p:blipFill>
        <p:spPr>
          <a:xfrm>
            <a:off x="5435600" y="1916407"/>
            <a:ext cx="6458082" cy="4576468"/>
          </a:xfrm>
          <a:prstGeom prst="rect">
            <a:avLst/>
          </a:prstGeom>
        </p:spPr>
      </p:pic>
      <p:sp>
        <p:nvSpPr>
          <p:cNvPr id="9" name="Arrow: Right 8">
            <a:extLst>
              <a:ext uri="{FF2B5EF4-FFF2-40B4-BE49-F238E27FC236}">
                <a16:creationId xmlns:a16="http://schemas.microsoft.com/office/drawing/2014/main" id="{02E3981B-A1C4-22FD-0715-F3E3CE8A9D45}"/>
              </a:ext>
            </a:extLst>
          </p:cNvPr>
          <p:cNvSpPr/>
          <p:nvPr/>
        </p:nvSpPr>
        <p:spPr>
          <a:xfrm>
            <a:off x="4625357" y="2313782"/>
            <a:ext cx="1231900" cy="920750"/>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93D77C6-EFC4-FF38-0E01-5DCA03AA34F3}"/>
              </a:ext>
            </a:extLst>
          </p:cNvPr>
          <p:cNvSpPr/>
          <p:nvPr/>
        </p:nvSpPr>
        <p:spPr>
          <a:xfrm>
            <a:off x="5857257" y="2590007"/>
            <a:ext cx="317842" cy="368300"/>
          </a:xfrm>
          <a:prstGeom prst="ellipse">
            <a:avLst/>
          </a:prstGeom>
          <a:noFill/>
          <a:ln w="381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7166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21360-D6FA-DA58-C767-29F35070D18A}"/>
              </a:ext>
            </a:extLst>
          </p:cNvPr>
          <p:cNvSpPr>
            <a:spLocks noGrp="1"/>
          </p:cNvSpPr>
          <p:nvPr>
            <p:ph type="title"/>
          </p:nvPr>
        </p:nvSpPr>
        <p:spPr/>
        <p:txBody>
          <a:bodyPr>
            <a:normAutofit fontScale="90000"/>
          </a:bodyPr>
          <a:lstStyle/>
          <a:p>
            <a:r>
              <a:rPr lang="en-US" dirty="0"/>
              <a:t>It may ask you to install. Once it is working, you should be able to see folders that contain your </a:t>
            </a:r>
            <a:r>
              <a:rPr lang="en-US" dirty="0" err="1"/>
              <a:t>MobileSensorData</a:t>
            </a:r>
            <a:endParaRPr lang="en-US" dirty="0"/>
          </a:p>
        </p:txBody>
      </p:sp>
      <p:pic>
        <p:nvPicPr>
          <p:cNvPr id="5" name="Picture 4">
            <a:extLst>
              <a:ext uri="{FF2B5EF4-FFF2-40B4-BE49-F238E27FC236}">
                <a16:creationId xmlns:a16="http://schemas.microsoft.com/office/drawing/2014/main" id="{BB10CDDE-37DA-3820-43B8-4F000C7FF7EB}"/>
              </a:ext>
            </a:extLst>
          </p:cNvPr>
          <p:cNvPicPr>
            <a:picLocks noChangeAspect="1"/>
          </p:cNvPicPr>
          <p:nvPr/>
        </p:nvPicPr>
        <p:blipFill>
          <a:blip r:embed="rId2"/>
          <a:stretch>
            <a:fillRect/>
          </a:stretch>
        </p:blipFill>
        <p:spPr>
          <a:xfrm>
            <a:off x="944196" y="2895599"/>
            <a:ext cx="3905250" cy="2672013"/>
          </a:xfrm>
          <a:prstGeom prst="rect">
            <a:avLst/>
          </a:prstGeom>
        </p:spPr>
      </p:pic>
      <p:pic>
        <p:nvPicPr>
          <p:cNvPr id="11" name="Picture 10">
            <a:extLst>
              <a:ext uri="{FF2B5EF4-FFF2-40B4-BE49-F238E27FC236}">
                <a16:creationId xmlns:a16="http://schemas.microsoft.com/office/drawing/2014/main" id="{A0D74801-77F1-2786-61E3-654B663CBC8E}"/>
              </a:ext>
            </a:extLst>
          </p:cNvPr>
          <p:cNvPicPr>
            <a:picLocks noChangeAspect="1"/>
          </p:cNvPicPr>
          <p:nvPr/>
        </p:nvPicPr>
        <p:blipFill>
          <a:blip r:embed="rId3"/>
          <a:stretch>
            <a:fillRect/>
          </a:stretch>
        </p:blipFill>
        <p:spPr>
          <a:xfrm>
            <a:off x="6289400" y="2763656"/>
            <a:ext cx="3943900" cy="2600688"/>
          </a:xfrm>
          <a:prstGeom prst="rect">
            <a:avLst/>
          </a:prstGeom>
        </p:spPr>
      </p:pic>
    </p:spTree>
    <p:extLst>
      <p:ext uri="{BB962C8B-B14F-4D97-AF65-F5344CB8AC3E}">
        <p14:creationId xmlns:p14="http://schemas.microsoft.com/office/powerpoint/2010/main" val="20187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FB622-3CF8-F9A6-2589-F0CD3D157258}"/>
              </a:ext>
            </a:extLst>
          </p:cNvPr>
          <p:cNvSpPr>
            <a:spLocks noGrp="1"/>
          </p:cNvSpPr>
          <p:nvPr>
            <p:ph type="title"/>
          </p:nvPr>
        </p:nvSpPr>
        <p:spPr/>
        <p:txBody>
          <a:bodyPr>
            <a:normAutofit fontScale="90000"/>
          </a:bodyPr>
          <a:lstStyle/>
          <a:p>
            <a:r>
              <a:rPr lang="en-US" dirty="0"/>
              <a:t>Select the log files, and then left-click to “Show in Explorer” to see where they are on your computer. Move these to your homework folder</a:t>
            </a:r>
          </a:p>
        </p:txBody>
      </p:sp>
      <p:pic>
        <p:nvPicPr>
          <p:cNvPr id="5" name="Picture 4">
            <a:extLst>
              <a:ext uri="{FF2B5EF4-FFF2-40B4-BE49-F238E27FC236}">
                <a16:creationId xmlns:a16="http://schemas.microsoft.com/office/drawing/2014/main" id="{27C6A17E-AE3E-F64D-220C-740745967118}"/>
              </a:ext>
            </a:extLst>
          </p:cNvPr>
          <p:cNvPicPr>
            <a:picLocks noChangeAspect="1"/>
          </p:cNvPicPr>
          <p:nvPr/>
        </p:nvPicPr>
        <p:blipFill>
          <a:blip r:embed="rId2"/>
          <a:stretch>
            <a:fillRect/>
          </a:stretch>
        </p:blipFill>
        <p:spPr>
          <a:xfrm>
            <a:off x="958849" y="2392138"/>
            <a:ext cx="5282193" cy="3709031"/>
          </a:xfrm>
          <a:prstGeom prst="rect">
            <a:avLst/>
          </a:prstGeom>
        </p:spPr>
      </p:pic>
      <p:pic>
        <p:nvPicPr>
          <p:cNvPr id="7" name="Picture 6">
            <a:extLst>
              <a:ext uri="{FF2B5EF4-FFF2-40B4-BE49-F238E27FC236}">
                <a16:creationId xmlns:a16="http://schemas.microsoft.com/office/drawing/2014/main" id="{4A474F59-C10C-AA47-FA39-FEE725922D8A}"/>
              </a:ext>
            </a:extLst>
          </p:cNvPr>
          <p:cNvPicPr>
            <a:picLocks noChangeAspect="1"/>
          </p:cNvPicPr>
          <p:nvPr/>
        </p:nvPicPr>
        <p:blipFill>
          <a:blip r:embed="rId3"/>
          <a:stretch>
            <a:fillRect/>
          </a:stretch>
        </p:blipFill>
        <p:spPr>
          <a:xfrm>
            <a:off x="6032500" y="2392138"/>
            <a:ext cx="3764373" cy="3487835"/>
          </a:xfrm>
          <a:prstGeom prst="rect">
            <a:avLst/>
          </a:prstGeom>
        </p:spPr>
      </p:pic>
    </p:spTree>
    <p:extLst>
      <p:ext uri="{BB962C8B-B14F-4D97-AF65-F5344CB8AC3E}">
        <p14:creationId xmlns:p14="http://schemas.microsoft.com/office/powerpoint/2010/main" val="2809963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E6C2-A18F-DC5C-1AB6-AA1939EE8722}"/>
              </a:ext>
            </a:extLst>
          </p:cNvPr>
          <p:cNvSpPr>
            <a:spLocks noGrp="1"/>
          </p:cNvSpPr>
          <p:nvPr>
            <p:ph type="title"/>
          </p:nvPr>
        </p:nvSpPr>
        <p:spPr/>
        <p:txBody>
          <a:bodyPr>
            <a:normAutofit fontScale="90000"/>
          </a:bodyPr>
          <a:lstStyle/>
          <a:p>
            <a:r>
              <a:rPr lang="en-US" dirty="0"/>
              <a:t>Suggest that your HW be kept in a subfolder with your </a:t>
            </a:r>
            <a:r>
              <a:rPr lang="en-US" dirty="0" err="1"/>
              <a:t>CanvasID</a:t>
            </a:r>
            <a:r>
              <a:rPr lang="en-US" dirty="0"/>
              <a:t> and HW1 in the name. See below for Dr. B (9000000)</a:t>
            </a:r>
          </a:p>
        </p:txBody>
      </p:sp>
      <p:pic>
        <p:nvPicPr>
          <p:cNvPr id="5" name="Picture 4">
            <a:extLst>
              <a:ext uri="{FF2B5EF4-FFF2-40B4-BE49-F238E27FC236}">
                <a16:creationId xmlns:a16="http://schemas.microsoft.com/office/drawing/2014/main" id="{8220ACF7-1474-F24C-B6DB-B5D4B8C20BEB}"/>
              </a:ext>
            </a:extLst>
          </p:cNvPr>
          <p:cNvPicPr>
            <a:picLocks noChangeAspect="1"/>
          </p:cNvPicPr>
          <p:nvPr/>
        </p:nvPicPr>
        <p:blipFill>
          <a:blip r:embed="rId2"/>
          <a:stretch>
            <a:fillRect/>
          </a:stretch>
        </p:blipFill>
        <p:spPr>
          <a:xfrm>
            <a:off x="567619" y="2090468"/>
            <a:ext cx="10116962" cy="3858163"/>
          </a:xfrm>
          <a:prstGeom prst="rect">
            <a:avLst/>
          </a:prstGeom>
        </p:spPr>
      </p:pic>
    </p:spTree>
    <p:extLst>
      <p:ext uri="{BB962C8B-B14F-4D97-AF65-F5344CB8AC3E}">
        <p14:creationId xmlns:p14="http://schemas.microsoft.com/office/powerpoint/2010/main" val="348322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97407-8FD6-D569-4027-A3B6767234AD}"/>
              </a:ext>
            </a:extLst>
          </p:cNvPr>
          <p:cNvSpPr>
            <a:spLocks noGrp="1"/>
          </p:cNvSpPr>
          <p:nvPr>
            <p:ph type="title"/>
          </p:nvPr>
        </p:nvSpPr>
        <p:spPr/>
        <p:txBody>
          <a:bodyPr/>
          <a:lstStyle/>
          <a:p>
            <a:r>
              <a:rPr lang="en-US" dirty="0"/>
              <a:t>Plot the data</a:t>
            </a:r>
          </a:p>
        </p:txBody>
      </p:sp>
      <p:sp>
        <p:nvSpPr>
          <p:cNvPr id="3" name="Content Placeholder 2">
            <a:extLst>
              <a:ext uri="{FF2B5EF4-FFF2-40B4-BE49-F238E27FC236}">
                <a16:creationId xmlns:a16="http://schemas.microsoft.com/office/drawing/2014/main" id="{2A51052E-112D-27E6-B1FA-C06CD25A08A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41963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0A34-16E1-8138-E111-12FA4104E090}"/>
              </a:ext>
            </a:extLst>
          </p:cNvPr>
          <p:cNvSpPr>
            <a:spLocks noGrp="1"/>
          </p:cNvSpPr>
          <p:nvPr>
            <p:ph type="title"/>
          </p:nvPr>
        </p:nvSpPr>
        <p:spPr/>
        <p:txBody>
          <a:bodyPr>
            <a:normAutofit fontScale="90000"/>
          </a:bodyPr>
          <a:lstStyle/>
          <a:p>
            <a:r>
              <a:rPr lang="en-US" dirty="0"/>
              <a:t>Next, load the data using a script. Make a new file in the editor, save it as a script in your HW folder </a:t>
            </a:r>
          </a:p>
        </p:txBody>
      </p:sp>
      <p:pic>
        <p:nvPicPr>
          <p:cNvPr id="7" name="Picture 6">
            <a:extLst>
              <a:ext uri="{FF2B5EF4-FFF2-40B4-BE49-F238E27FC236}">
                <a16:creationId xmlns:a16="http://schemas.microsoft.com/office/drawing/2014/main" id="{BE4F48F0-5330-5667-C33D-A85DACD6786F}"/>
              </a:ext>
            </a:extLst>
          </p:cNvPr>
          <p:cNvPicPr>
            <a:picLocks noChangeAspect="1"/>
          </p:cNvPicPr>
          <p:nvPr/>
        </p:nvPicPr>
        <p:blipFill>
          <a:blip r:embed="rId2"/>
          <a:stretch>
            <a:fillRect/>
          </a:stretch>
        </p:blipFill>
        <p:spPr>
          <a:xfrm>
            <a:off x="955291" y="1763405"/>
            <a:ext cx="3363505" cy="2694296"/>
          </a:xfrm>
          <a:prstGeom prst="rect">
            <a:avLst/>
          </a:prstGeom>
        </p:spPr>
      </p:pic>
      <p:pic>
        <p:nvPicPr>
          <p:cNvPr id="9" name="Picture 8">
            <a:extLst>
              <a:ext uri="{FF2B5EF4-FFF2-40B4-BE49-F238E27FC236}">
                <a16:creationId xmlns:a16="http://schemas.microsoft.com/office/drawing/2014/main" id="{B686D45E-F205-2EC3-9C2C-6B113D95E251}"/>
              </a:ext>
            </a:extLst>
          </p:cNvPr>
          <p:cNvPicPr>
            <a:picLocks noChangeAspect="1"/>
          </p:cNvPicPr>
          <p:nvPr/>
        </p:nvPicPr>
        <p:blipFill>
          <a:blip r:embed="rId3"/>
          <a:stretch>
            <a:fillRect/>
          </a:stretch>
        </p:blipFill>
        <p:spPr>
          <a:xfrm>
            <a:off x="3953637" y="3169384"/>
            <a:ext cx="3450909" cy="3083242"/>
          </a:xfrm>
          <a:prstGeom prst="rect">
            <a:avLst/>
          </a:prstGeom>
        </p:spPr>
      </p:pic>
      <p:pic>
        <p:nvPicPr>
          <p:cNvPr id="11" name="Picture 10">
            <a:extLst>
              <a:ext uri="{FF2B5EF4-FFF2-40B4-BE49-F238E27FC236}">
                <a16:creationId xmlns:a16="http://schemas.microsoft.com/office/drawing/2014/main" id="{17CE40DE-7EB7-C7E8-7219-5BC9DA11D5D9}"/>
              </a:ext>
            </a:extLst>
          </p:cNvPr>
          <p:cNvPicPr>
            <a:picLocks noChangeAspect="1"/>
          </p:cNvPicPr>
          <p:nvPr/>
        </p:nvPicPr>
        <p:blipFill>
          <a:blip r:embed="rId4"/>
          <a:stretch>
            <a:fillRect/>
          </a:stretch>
        </p:blipFill>
        <p:spPr>
          <a:xfrm>
            <a:off x="7045773" y="1836935"/>
            <a:ext cx="4870583" cy="3563740"/>
          </a:xfrm>
          <a:prstGeom prst="rect">
            <a:avLst/>
          </a:prstGeom>
        </p:spPr>
      </p:pic>
    </p:spTree>
    <p:extLst>
      <p:ext uri="{BB962C8B-B14F-4D97-AF65-F5344CB8AC3E}">
        <p14:creationId xmlns:p14="http://schemas.microsoft.com/office/powerpoint/2010/main" val="301378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43BC-4A52-F95C-9A6B-7BD4D0E09A50}"/>
              </a:ext>
            </a:extLst>
          </p:cNvPr>
          <p:cNvSpPr>
            <a:spLocks noGrp="1"/>
          </p:cNvSpPr>
          <p:nvPr>
            <p:ph type="title"/>
          </p:nvPr>
        </p:nvSpPr>
        <p:spPr/>
        <p:txBody>
          <a:bodyPr>
            <a:normAutofit fontScale="90000"/>
          </a:bodyPr>
          <a:lstStyle/>
          <a:p>
            <a:r>
              <a:rPr lang="en-US" dirty="0"/>
              <a:t>Make sure to run the “script_demo_2026Fall” code here. This will force MATLAB to add your homework folder to its working path</a:t>
            </a:r>
          </a:p>
        </p:txBody>
      </p:sp>
      <p:pic>
        <p:nvPicPr>
          <p:cNvPr id="5" name="Picture 4">
            <a:extLst>
              <a:ext uri="{FF2B5EF4-FFF2-40B4-BE49-F238E27FC236}">
                <a16:creationId xmlns:a16="http://schemas.microsoft.com/office/drawing/2014/main" id="{1D4F6B7D-0063-AAD8-A7D3-58A1119473F7}"/>
              </a:ext>
            </a:extLst>
          </p:cNvPr>
          <p:cNvPicPr>
            <a:picLocks noChangeAspect="1"/>
          </p:cNvPicPr>
          <p:nvPr/>
        </p:nvPicPr>
        <p:blipFill>
          <a:blip r:embed="rId2"/>
          <a:stretch>
            <a:fillRect/>
          </a:stretch>
        </p:blipFill>
        <p:spPr>
          <a:xfrm>
            <a:off x="2271277" y="2552471"/>
            <a:ext cx="6239746" cy="3277057"/>
          </a:xfrm>
          <a:prstGeom prst="rect">
            <a:avLst/>
          </a:prstGeom>
        </p:spPr>
      </p:pic>
    </p:spTree>
    <p:extLst>
      <p:ext uri="{BB962C8B-B14F-4D97-AF65-F5344CB8AC3E}">
        <p14:creationId xmlns:p14="http://schemas.microsoft.com/office/powerpoint/2010/main" val="4177116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06306-F3FF-AD61-D99D-F29A67F16BE0}"/>
              </a:ext>
            </a:extLst>
          </p:cNvPr>
          <p:cNvSpPr>
            <a:spLocks noGrp="1"/>
          </p:cNvSpPr>
          <p:nvPr>
            <p:ph type="title"/>
          </p:nvPr>
        </p:nvSpPr>
        <p:spPr/>
        <p:txBody>
          <a:bodyPr/>
          <a:lstStyle/>
          <a:p>
            <a:r>
              <a:rPr lang="en-US" dirty="0"/>
              <a:t>Edit the script to load the files of data (use your own file names)</a:t>
            </a:r>
          </a:p>
        </p:txBody>
      </p:sp>
      <p:sp>
        <p:nvSpPr>
          <p:cNvPr id="3" name="Content Placeholder 2">
            <a:extLst>
              <a:ext uri="{FF2B5EF4-FFF2-40B4-BE49-F238E27FC236}">
                <a16:creationId xmlns:a16="http://schemas.microsoft.com/office/drawing/2014/main" id="{79699E12-13D7-1226-C635-06E7581820C3}"/>
              </a:ext>
            </a:extLst>
          </p:cNvPr>
          <p:cNvSpPr>
            <a:spLocks noGrp="1"/>
          </p:cNvSpPr>
          <p:nvPr>
            <p:ph idx="1"/>
          </p:nvPr>
        </p:nvSpPr>
        <p:spPr>
          <a:xfrm>
            <a:off x="838200" y="1825625"/>
            <a:ext cx="3651250" cy="4351338"/>
          </a:xfrm>
        </p:spPr>
        <p:txBody>
          <a:bodyPr/>
          <a:lstStyle/>
          <a:p>
            <a:pPr marL="0" indent="0">
              <a:buNone/>
            </a:pPr>
            <a:r>
              <a:rPr lang="en-US" dirty="0"/>
              <a:t>The first part of the script loads the file names</a:t>
            </a:r>
          </a:p>
        </p:txBody>
      </p:sp>
      <p:sp>
        <p:nvSpPr>
          <p:cNvPr id="4" name="TextBox 3">
            <a:extLst>
              <a:ext uri="{FF2B5EF4-FFF2-40B4-BE49-F238E27FC236}">
                <a16:creationId xmlns:a16="http://schemas.microsoft.com/office/drawing/2014/main" id="{1882BBD5-0A49-C3F7-011D-9935BEEC0B15}"/>
              </a:ext>
            </a:extLst>
          </p:cNvPr>
          <p:cNvSpPr txBox="1"/>
          <p:nvPr/>
        </p:nvSpPr>
        <p:spPr>
          <a:xfrm>
            <a:off x="4743450" y="177165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91A79F6A-E361-10F5-BC2C-CD0383BD917C}"/>
              </a:ext>
            </a:extLst>
          </p:cNvPr>
          <p:cNvSpPr txBox="1"/>
          <p:nvPr/>
        </p:nvSpPr>
        <p:spPr>
          <a:xfrm>
            <a:off x="4445000" y="1825625"/>
            <a:ext cx="6148222" cy="5262979"/>
          </a:xfrm>
          <a:prstGeom prst="rect">
            <a:avLst/>
          </a:prstGeom>
          <a:noFill/>
        </p:spPr>
        <p:txBody>
          <a:bodyPr wrap="none" rtlCol="0">
            <a:spAutoFit/>
          </a:bodyPr>
          <a:lstStyle/>
          <a:p>
            <a:pPr>
              <a:buNone/>
            </a:pPr>
            <a:r>
              <a:rPr lang="en-US" sz="1200" b="0" i="0" dirty="0">
                <a:solidFill>
                  <a:srgbClr val="008013"/>
                </a:solidFill>
                <a:effectLst/>
                <a:latin typeface="Menlo"/>
              </a:rPr>
              <a:t>%% Set the file names</a:t>
            </a:r>
            <a:endParaRPr lang="en-US" sz="1200" b="0" i="0" dirty="0">
              <a:effectLst/>
              <a:latin typeface="Menlo"/>
            </a:endParaRPr>
          </a:p>
          <a:p>
            <a:pPr>
              <a:buNone/>
            </a:pPr>
            <a:r>
              <a:rPr lang="en-US" sz="1200" b="0" i="0" dirty="0">
                <a:solidFill>
                  <a:srgbClr val="008013"/>
                </a:solidFill>
                <a:effectLst/>
                <a:latin typeface="Menlo"/>
              </a:rPr>
              <a:t>% Specify the folder and file names associated with the data. Edit these</a:t>
            </a:r>
            <a:endParaRPr lang="en-US" sz="1200" b="0" i="0" dirty="0">
              <a:effectLst/>
              <a:latin typeface="Menlo"/>
            </a:endParaRPr>
          </a:p>
          <a:p>
            <a:pPr>
              <a:buNone/>
            </a:pPr>
            <a:r>
              <a:rPr lang="en-US" sz="1200" b="0" i="0" dirty="0">
                <a:solidFill>
                  <a:srgbClr val="008013"/>
                </a:solidFill>
                <a:effectLst/>
                <a:latin typeface="Menlo"/>
              </a:rPr>
              <a:t>% names to match your folder structure. Note: the PWD command returns the</a:t>
            </a:r>
            <a:endParaRPr lang="en-US" sz="1200" b="0" i="0" dirty="0">
              <a:effectLst/>
              <a:latin typeface="Menlo"/>
            </a:endParaRPr>
          </a:p>
          <a:p>
            <a:pPr>
              <a:buNone/>
            </a:pPr>
            <a:r>
              <a:rPr lang="en-US" sz="1200" b="0" i="0" dirty="0">
                <a:solidFill>
                  <a:srgbClr val="008013"/>
                </a:solidFill>
                <a:effectLst/>
                <a:latin typeface="Menlo"/>
              </a:rPr>
              <a:t>% path up to and including the 2026Fall directory.</a:t>
            </a:r>
            <a:endParaRPr lang="en-US" sz="1200" b="0" i="0" dirty="0">
              <a:effectLst/>
              <a:latin typeface="Menlo"/>
            </a:endParaRPr>
          </a:p>
          <a:p>
            <a:pPr>
              <a:buNone/>
            </a:pPr>
            <a:r>
              <a:rPr lang="en-US" sz="1200" b="0" i="0" dirty="0" err="1">
                <a:effectLst/>
                <a:latin typeface="Menlo"/>
              </a:rPr>
              <a:t>dataStorageFolder</a:t>
            </a:r>
            <a:r>
              <a:rPr lang="en-US" sz="1200" b="0" i="0" dirty="0">
                <a:effectLst/>
                <a:latin typeface="Menlo"/>
              </a:rPr>
              <a:t> = </a:t>
            </a:r>
            <a:r>
              <a:rPr lang="en-US" sz="1200" b="0" i="0" dirty="0" err="1">
                <a:effectLst/>
                <a:latin typeface="Menlo"/>
              </a:rPr>
              <a:t>fullfile</a:t>
            </a:r>
            <a:r>
              <a:rPr lang="en-US" sz="1200" b="0" i="0" dirty="0">
                <a:effectLst/>
                <a:latin typeface="Menlo"/>
              </a:rPr>
              <a:t>(pwd,</a:t>
            </a:r>
            <a:r>
              <a:rPr lang="en-US" sz="1200" b="0" i="0" dirty="0">
                <a:solidFill>
                  <a:srgbClr val="A709F5"/>
                </a:solidFill>
                <a:effectLst/>
                <a:latin typeface="Menlo"/>
              </a:rPr>
              <a:t>'Assignments'</a:t>
            </a:r>
            <a:r>
              <a:rPr lang="en-US" sz="1200" b="0" i="0" dirty="0">
                <a:effectLst/>
                <a:latin typeface="Menlo"/>
              </a:rPr>
              <a:t>,</a:t>
            </a:r>
            <a:r>
              <a:rPr lang="en-US" sz="1200" b="0" i="0" dirty="0">
                <a:solidFill>
                  <a:srgbClr val="A709F5"/>
                </a:solidFill>
                <a:effectLst/>
                <a:latin typeface="Menlo"/>
              </a:rPr>
              <a:t>'Week02_HW1_InitialsViaGPS'</a:t>
            </a:r>
            <a:r>
              <a:rPr lang="en-US" sz="1200" b="0" i="0" dirty="0">
                <a:effectLst/>
                <a:latin typeface="Menlo"/>
              </a:rPr>
              <a:t>,</a:t>
            </a:r>
            <a:r>
              <a:rPr lang="en-US" sz="1200" b="0" i="0" dirty="0">
                <a:solidFill>
                  <a:srgbClr val="A709F5"/>
                </a:solidFill>
                <a:effectLst/>
                <a:latin typeface="Menlo"/>
              </a:rPr>
              <a:t>'9000000_HW1'</a:t>
            </a:r>
            <a:r>
              <a:rPr lang="en-US" sz="1200" b="0" i="0" dirty="0">
                <a:effectLst/>
                <a:latin typeface="Menlo"/>
              </a:rPr>
              <a:t>);</a:t>
            </a:r>
          </a:p>
          <a:p>
            <a:pPr>
              <a:buNone/>
            </a:pPr>
            <a:br>
              <a:rPr lang="en-US" sz="1200" b="0" i="0" dirty="0">
                <a:effectLst/>
                <a:latin typeface="Menlo"/>
              </a:rPr>
            </a:br>
            <a:endParaRPr lang="en-US" sz="1200" b="0" i="0" dirty="0">
              <a:effectLst/>
              <a:latin typeface="Menlo"/>
            </a:endParaRPr>
          </a:p>
          <a:p>
            <a:pPr>
              <a:buNone/>
            </a:pPr>
            <a:r>
              <a:rPr lang="en-US" sz="1200" b="0" i="0" dirty="0">
                <a:solidFill>
                  <a:srgbClr val="008013"/>
                </a:solidFill>
                <a:effectLst/>
                <a:latin typeface="Menlo"/>
              </a:rPr>
              <a:t>% Make sure the variable isn't used yet</a:t>
            </a:r>
            <a:endParaRPr lang="en-US" sz="1200" b="0" i="0" dirty="0">
              <a:effectLst/>
              <a:latin typeface="Menlo"/>
            </a:endParaRPr>
          </a:p>
          <a:p>
            <a:pPr>
              <a:buNone/>
            </a:pPr>
            <a:r>
              <a:rPr lang="en-US" sz="1200" b="0" i="0" dirty="0">
                <a:effectLst/>
                <a:latin typeface="Menlo"/>
              </a:rPr>
              <a:t>clear </a:t>
            </a:r>
            <a:r>
              <a:rPr lang="en-US" sz="1200" b="0" i="0" dirty="0" err="1">
                <a:solidFill>
                  <a:srgbClr val="A709F5"/>
                </a:solidFill>
                <a:effectLst/>
                <a:latin typeface="Menlo"/>
              </a:rPr>
              <a:t>filesToLoad</a:t>
            </a:r>
            <a:endParaRPr lang="en-US" sz="1200" b="0" i="0" dirty="0">
              <a:effectLst/>
              <a:latin typeface="Menlo"/>
            </a:endParaRPr>
          </a:p>
          <a:p>
            <a:pPr>
              <a:buNone/>
            </a:pPr>
            <a:br>
              <a:rPr lang="en-US" sz="1200" b="0" i="0" dirty="0">
                <a:effectLst/>
                <a:latin typeface="Menlo"/>
              </a:rPr>
            </a:br>
            <a:endParaRPr lang="en-US" sz="1200" b="0" i="0" dirty="0">
              <a:effectLst/>
              <a:latin typeface="Menlo"/>
            </a:endParaRPr>
          </a:p>
          <a:p>
            <a:pPr>
              <a:buNone/>
            </a:pPr>
            <a:r>
              <a:rPr lang="en-US" sz="1200" b="0" i="0" dirty="0">
                <a:solidFill>
                  <a:srgbClr val="008013"/>
                </a:solidFill>
                <a:effectLst/>
                <a:latin typeface="Menlo"/>
              </a:rPr>
              <a:t>% There are several ways to load data, either automatically or hard-coded.</a:t>
            </a:r>
            <a:endParaRPr lang="en-US" sz="1200" b="0" i="0" dirty="0">
              <a:effectLst/>
              <a:latin typeface="Menlo"/>
            </a:endParaRPr>
          </a:p>
          <a:p>
            <a:pPr>
              <a:buNone/>
            </a:pPr>
            <a:r>
              <a:rPr lang="en-US" sz="1200" b="0" i="0" dirty="0">
                <a:solidFill>
                  <a:srgbClr val="008013"/>
                </a:solidFill>
                <a:effectLst/>
                <a:latin typeface="Menlo"/>
              </a:rPr>
              <a:t>% The if statement shows both</a:t>
            </a:r>
            <a:endParaRPr lang="en-US" sz="1200" b="0" i="0" dirty="0">
              <a:effectLst/>
              <a:latin typeface="Menlo"/>
            </a:endParaRPr>
          </a:p>
          <a:p>
            <a:pPr>
              <a:buNone/>
            </a:pPr>
            <a:r>
              <a:rPr lang="en-US" sz="1200" b="0" i="0" dirty="0">
                <a:solidFill>
                  <a:srgbClr val="0E00FF"/>
                </a:solidFill>
                <a:effectLst/>
                <a:latin typeface="Menlo"/>
              </a:rPr>
              <a:t>if </a:t>
            </a:r>
            <a:r>
              <a:rPr lang="en-US" sz="1200" b="0" i="0" dirty="0">
                <a:effectLst/>
                <a:latin typeface="Menlo"/>
              </a:rPr>
              <a:t>1==1</a:t>
            </a:r>
          </a:p>
          <a:p>
            <a:pPr>
              <a:buNone/>
            </a:pPr>
            <a:r>
              <a:rPr lang="en-US" sz="1200" b="0" i="0" dirty="0" err="1">
                <a:effectLst/>
                <a:latin typeface="Menlo"/>
              </a:rPr>
              <a:t>matFilesInFolder</a:t>
            </a:r>
            <a:r>
              <a:rPr lang="en-US" sz="1200" b="0" i="0" dirty="0">
                <a:effectLst/>
                <a:latin typeface="Menlo"/>
              </a:rPr>
              <a:t> = </a:t>
            </a:r>
            <a:r>
              <a:rPr lang="en-US" sz="1200" b="0" i="0" dirty="0" err="1">
                <a:effectLst/>
                <a:latin typeface="Menlo"/>
              </a:rPr>
              <a:t>dir</a:t>
            </a:r>
            <a:r>
              <a:rPr lang="en-US" sz="1200" b="0" i="0" dirty="0">
                <a:effectLst/>
                <a:latin typeface="Menlo"/>
              </a:rPr>
              <a:t>(</a:t>
            </a:r>
            <a:r>
              <a:rPr lang="en-US" sz="1200" b="0" i="0" dirty="0" err="1">
                <a:effectLst/>
                <a:latin typeface="Menlo"/>
              </a:rPr>
              <a:t>fullfile</a:t>
            </a:r>
            <a:r>
              <a:rPr lang="en-US" sz="1200" b="0" i="0" dirty="0">
                <a:effectLst/>
                <a:latin typeface="Menlo"/>
              </a:rPr>
              <a:t>(</a:t>
            </a:r>
            <a:r>
              <a:rPr lang="en-US" sz="1200" b="0" i="0" dirty="0" err="1">
                <a:effectLst/>
                <a:latin typeface="Menlo"/>
              </a:rPr>
              <a:t>dataStorageFolder</a:t>
            </a:r>
            <a:r>
              <a:rPr lang="en-US" sz="1200" b="0" i="0" dirty="0">
                <a:effectLst/>
                <a:latin typeface="Menlo"/>
              </a:rPr>
              <a:t>,</a:t>
            </a:r>
            <a:r>
              <a:rPr lang="en-US" sz="1200" b="0" i="0" dirty="0">
                <a:solidFill>
                  <a:srgbClr val="A709F5"/>
                </a:solidFill>
                <a:effectLst/>
                <a:latin typeface="Menlo"/>
              </a:rPr>
              <a:t>'*.mat'</a:t>
            </a:r>
            <a:r>
              <a:rPr lang="en-US" sz="1200" b="0" i="0" dirty="0">
                <a:effectLst/>
                <a:latin typeface="Menlo"/>
              </a:rPr>
              <a:t>));</a:t>
            </a:r>
          </a:p>
          <a:p>
            <a:pPr>
              <a:buNone/>
            </a:pPr>
            <a:r>
              <a:rPr lang="en-US" sz="1200" b="0" i="0" dirty="0">
                <a:solidFill>
                  <a:srgbClr val="0E00FF"/>
                </a:solidFill>
                <a:effectLst/>
                <a:latin typeface="Menlo"/>
              </a:rPr>
              <a:t>for </a:t>
            </a:r>
            <a:r>
              <a:rPr lang="en-US" sz="1200" b="0" i="0" dirty="0" err="1">
                <a:effectLst/>
                <a:latin typeface="Menlo"/>
              </a:rPr>
              <a:t>ith_file</a:t>
            </a:r>
            <a:r>
              <a:rPr lang="en-US" sz="1200" b="0" i="0" dirty="0">
                <a:effectLst/>
                <a:latin typeface="Menlo"/>
              </a:rPr>
              <a:t> = 1:length(</a:t>
            </a:r>
            <a:r>
              <a:rPr lang="en-US" sz="1200" b="0" i="0" dirty="0" err="1">
                <a:effectLst/>
                <a:latin typeface="Menlo"/>
              </a:rPr>
              <a:t>matFilesInFolder</a:t>
            </a:r>
            <a:r>
              <a:rPr lang="en-US" sz="1200" b="0" i="0" dirty="0">
                <a:effectLst/>
                <a:latin typeface="Menlo"/>
              </a:rPr>
              <a:t>)</a:t>
            </a:r>
          </a:p>
          <a:p>
            <a:pPr>
              <a:buNone/>
            </a:pPr>
            <a:r>
              <a:rPr lang="en-US" sz="1200" b="0" i="0" dirty="0">
                <a:solidFill>
                  <a:srgbClr val="008013"/>
                </a:solidFill>
                <a:effectLst/>
                <a:latin typeface="Menlo"/>
              </a:rPr>
              <a:t>% Copy the name string into our list</a:t>
            </a:r>
            <a:endParaRPr lang="en-US" sz="1200" b="0" i="0" dirty="0">
              <a:effectLst/>
              <a:latin typeface="Menlo"/>
            </a:endParaRPr>
          </a:p>
          <a:p>
            <a:pPr>
              <a:buNone/>
            </a:pPr>
            <a:r>
              <a:rPr lang="en-US" sz="1200" b="0" i="0" dirty="0" err="1">
                <a:effectLst/>
                <a:latin typeface="Menlo"/>
              </a:rPr>
              <a:t>filesToLoad</a:t>
            </a:r>
            <a:r>
              <a:rPr lang="en-US" sz="1200" b="0" i="0" dirty="0">
                <a:effectLst/>
                <a:latin typeface="Menlo"/>
              </a:rPr>
              <a:t>{</a:t>
            </a:r>
            <a:r>
              <a:rPr lang="en-US" sz="1200" b="0" i="0" dirty="0" err="1">
                <a:effectLst/>
                <a:latin typeface="Menlo"/>
              </a:rPr>
              <a:t>ith_file</a:t>
            </a:r>
            <a:r>
              <a:rPr lang="en-US" sz="1200" b="0" i="0" dirty="0">
                <a:effectLst/>
                <a:latin typeface="Menlo"/>
              </a:rPr>
              <a:t>} = </a:t>
            </a:r>
            <a:r>
              <a:rPr lang="en-US" sz="1200" b="0" i="0" dirty="0" err="1">
                <a:effectLst/>
                <a:latin typeface="Menlo"/>
              </a:rPr>
              <a:t>matFilesInFolder</a:t>
            </a:r>
            <a:r>
              <a:rPr lang="en-US" sz="1200" b="0" i="0" dirty="0">
                <a:effectLst/>
                <a:latin typeface="Menlo"/>
              </a:rPr>
              <a:t>(</a:t>
            </a:r>
            <a:r>
              <a:rPr lang="en-US" sz="1200" b="0" i="0" dirty="0" err="1">
                <a:effectLst/>
                <a:latin typeface="Menlo"/>
              </a:rPr>
              <a:t>ith_file</a:t>
            </a:r>
            <a:r>
              <a:rPr lang="en-US" sz="1200" b="0" i="0" dirty="0">
                <a:effectLst/>
                <a:latin typeface="Menlo"/>
              </a:rPr>
              <a:t>).name; </a:t>
            </a:r>
            <a:r>
              <a:rPr lang="en-US" sz="1200" b="0" i="0" dirty="0">
                <a:solidFill>
                  <a:srgbClr val="008013"/>
                </a:solidFill>
                <a:effectLst/>
                <a:latin typeface="Menlo"/>
              </a:rPr>
              <a:t>%#ok&lt;SAGROW&gt;</a:t>
            </a:r>
            <a:endParaRPr lang="en-US" sz="1200" b="0" i="0" dirty="0">
              <a:effectLst/>
              <a:latin typeface="Menlo"/>
            </a:endParaRPr>
          </a:p>
          <a:p>
            <a:pPr>
              <a:buNone/>
            </a:pPr>
            <a:r>
              <a:rPr lang="en-US" sz="1200" b="0" i="0" dirty="0">
                <a:solidFill>
                  <a:srgbClr val="0E00FF"/>
                </a:solidFill>
                <a:effectLst/>
                <a:latin typeface="Menlo"/>
              </a:rPr>
              <a:t>end</a:t>
            </a:r>
            <a:endParaRPr lang="en-US" sz="1200" b="0" i="0" dirty="0">
              <a:effectLst/>
              <a:latin typeface="Menlo"/>
            </a:endParaRPr>
          </a:p>
          <a:p>
            <a:pPr>
              <a:buNone/>
            </a:pPr>
            <a:r>
              <a:rPr lang="en-US" sz="1200" b="0" i="0" dirty="0">
                <a:solidFill>
                  <a:srgbClr val="0E00FF"/>
                </a:solidFill>
                <a:effectLst/>
                <a:latin typeface="Menlo"/>
              </a:rPr>
              <a:t>else</a:t>
            </a:r>
            <a:endParaRPr lang="en-US" sz="1200" b="0" i="0" dirty="0">
              <a:effectLst/>
              <a:latin typeface="Menlo"/>
            </a:endParaRPr>
          </a:p>
          <a:p>
            <a:pPr>
              <a:buNone/>
            </a:pPr>
            <a:r>
              <a:rPr lang="en-US" sz="1200" b="0" i="0" dirty="0">
                <a:solidFill>
                  <a:srgbClr val="008013"/>
                </a:solidFill>
                <a:effectLst/>
                <a:latin typeface="Menlo"/>
              </a:rPr>
              <a:t>% Change the names below to match your data. Add more files if needed to</a:t>
            </a:r>
            <a:endParaRPr lang="en-US" sz="1200" b="0" i="0" dirty="0">
              <a:effectLst/>
              <a:latin typeface="Menlo"/>
            </a:endParaRPr>
          </a:p>
          <a:p>
            <a:pPr>
              <a:buNone/>
            </a:pPr>
            <a:r>
              <a:rPr lang="en-US" sz="1200" b="0" i="0" dirty="0">
                <a:solidFill>
                  <a:srgbClr val="008013"/>
                </a:solidFill>
                <a:effectLst/>
                <a:latin typeface="Menlo"/>
              </a:rPr>
              <a:t>% fill in the 3rd, 4th, etc. entries.</a:t>
            </a:r>
            <a:endParaRPr lang="en-US" sz="1200" b="0" i="0" dirty="0">
              <a:effectLst/>
              <a:latin typeface="Menlo"/>
            </a:endParaRPr>
          </a:p>
          <a:p>
            <a:pPr>
              <a:buNone/>
            </a:pPr>
            <a:r>
              <a:rPr lang="en-US" sz="1200" b="0" i="0" dirty="0" err="1">
                <a:effectLst/>
                <a:latin typeface="Menlo"/>
              </a:rPr>
              <a:t>filesToLoad</a:t>
            </a:r>
            <a:r>
              <a:rPr lang="en-US" sz="1200" b="0" i="0" dirty="0">
                <a:effectLst/>
                <a:latin typeface="Menlo"/>
              </a:rPr>
              <a:t>{1} = </a:t>
            </a:r>
            <a:r>
              <a:rPr lang="en-US" sz="1200" b="0" i="0" dirty="0">
                <a:solidFill>
                  <a:srgbClr val="A709F5"/>
                </a:solidFill>
                <a:effectLst/>
                <a:latin typeface="Menlo"/>
              </a:rPr>
              <a:t>'sensorlog_20260918_092151.mat'</a:t>
            </a:r>
            <a:r>
              <a:rPr lang="en-US" sz="1200" b="0" i="0" dirty="0">
                <a:effectLst/>
                <a:latin typeface="Menlo"/>
              </a:rPr>
              <a:t>;</a:t>
            </a:r>
          </a:p>
          <a:p>
            <a:pPr>
              <a:buNone/>
            </a:pPr>
            <a:r>
              <a:rPr lang="en-US" sz="1200" b="0" i="0" dirty="0" err="1">
                <a:effectLst/>
                <a:latin typeface="Menlo"/>
              </a:rPr>
              <a:t>filesToLoad</a:t>
            </a:r>
            <a:r>
              <a:rPr lang="en-US" sz="1200" b="0" i="0" dirty="0">
                <a:effectLst/>
                <a:latin typeface="Menlo"/>
              </a:rPr>
              <a:t>{2} = </a:t>
            </a:r>
            <a:r>
              <a:rPr lang="en-US" sz="1200" b="0" i="0" dirty="0">
                <a:solidFill>
                  <a:srgbClr val="A709F5"/>
                </a:solidFill>
                <a:effectLst/>
                <a:latin typeface="Menlo"/>
              </a:rPr>
              <a:t>'sensorlog_20260918_092723.mat'</a:t>
            </a:r>
            <a:r>
              <a:rPr lang="en-US" sz="1200" b="0" i="0" dirty="0">
                <a:effectLst/>
                <a:latin typeface="Menlo"/>
              </a:rPr>
              <a:t>;</a:t>
            </a:r>
          </a:p>
          <a:p>
            <a:pPr>
              <a:buNone/>
            </a:pPr>
            <a:r>
              <a:rPr lang="en-US" sz="1200" b="0" i="0" dirty="0">
                <a:solidFill>
                  <a:srgbClr val="0E00FF"/>
                </a:solidFill>
                <a:effectLst/>
                <a:latin typeface="Menlo"/>
              </a:rPr>
              <a:t>end</a:t>
            </a:r>
            <a:endParaRPr lang="en-US" sz="1200" b="0" i="0" dirty="0">
              <a:effectLst/>
              <a:latin typeface="Menlo"/>
            </a:endParaRPr>
          </a:p>
          <a:p>
            <a:pPr>
              <a:buNone/>
            </a:pPr>
            <a:r>
              <a:rPr lang="en-US" sz="1200" b="0" i="0" dirty="0" err="1">
                <a:effectLst/>
                <a:latin typeface="Menlo"/>
              </a:rPr>
              <a:t>Nfiles</a:t>
            </a:r>
            <a:r>
              <a:rPr lang="en-US" sz="1200" b="0" i="0" dirty="0">
                <a:effectLst/>
                <a:latin typeface="Menlo"/>
              </a:rPr>
              <a:t> = length(</a:t>
            </a:r>
            <a:r>
              <a:rPr lang="en-US" sz="1200" b="0" i="0" dirty="0" err="1">
                <a:effectLst/>
                <a:latin typeface="Menlo"/>
              </a:rPr>
              <a:t>filesToLoad</a:t>
            </a:r>
            <a:r>
              <a:rPr lang="en-US" sz="1200" b="0" i="0" dirty="0">
                <a:effectLst/>
                <a:latin typeface="Menlo"/>
              </a:rPr>
              <a:t>);</a:t>
            </a:r>
          </a:p>
          <a:p>
            <a:endParaRPr lang="en-US" sz="1200" dirty="0"/>
          </a:p>
        </p:txBody>
      </p:sp>
    </p:spTree>
    <p:extLst>
      <p:ext uri="{BB962C8B-B14F-4D97-AF65-F5344CB8AC3E}">
        <p14:creationId xmlns:p14="http://schemas.microsoft.com/office/powerpoint/2010/main" val="2567837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06306-F3FF-AD61-D99D-F29A67F16BE0}"/>
              </a:ext>
            </a:extLst>
          </p:cNvPr>
          <p:cNvSpPr>
            <a:spLocks noGrp="1"/>
          </p:cNvSpPr>
          <p:nvPr>
            <p:ph type="title"/>
          </p:nvPr>
        </p:nvSpPr>
        <p:spPr/>
        <p:txBody>
          <a:bodyPr/>
          <a:lstStyle/>
          <a:p>
            <a:r>
              <a:rPr lang="en-US" dirty="0"/>
              <a:t>The second part of the script loads the data</a:t>
            </a:r>
          </a:p>
        </p:txBody>
      </p:sp>
      <p:sp>
        <p:nvSpPr>
          <p:cNvPr id="3" name="Content Placeholder 2">
            <a:extLst>
              <a:ext uri="{FF2B5EF4-FFF2-40B4-BE49-F238E27FC236}">
                <a16:creationId xmlns:a16="http://schemas.microsoft.com/office/drawing/2014/main" id="{79699E12-13D7-1226-C635-06E7581820C3}"/>
              </a:ext>
            </a:extLst>
          </p:cNvPr>
          <p:cNvSpPr>
            <a:spLocks noGrp="1"/>
          </p:cNvSpPr>
          <p:nvPr>
            <p:ph idx="1"/>
          </p:nvPr>
        </p:nvSpPr>
        <p:spPr>
          <a:xfrm>
            <a:off x="838200" y="1825625"/>
            <a:ext cx="3651250" cy="4351338"/>
          </a:xfrm>
        </p:spPr>
        <p:txBody>
          <a:bodyPr/>
          <a:lstStyle/>
          <a:p>
            <a:pPr marL="0" indent="0">
              <a:buNone/>
            </a:pPr>
            <a:r>
              <a:rPr lang="en-US" dirty="0"/>
              <a:t>The data is kept in an array</a:t>
            </a:r>
          </a:p>
        </p:txBody>
      </p:sp>
      <p:sp>
        <p:nvSpPr>
          <p:cNvPr id="4" name="TextBox 3">
            <a:extLst>
              <a:ext uri="{FF2B5EF4-FFF2-40B4-BE49-F238E27FC236}">
                <a16:creationId xmlns:a16="http://schemas.microsoft.com/office/drawing/2014/main" id="{1882BBD5-0A49-C3F7-011D-9935BEEC0B15}"/>
              </a:ext>
            </a:extLst>
          </p:cNvPr>
          <p:cNvSpPr txBox="1"/>
          <p:nvPr/>
        </p:nvSpPr>
        <p:spPr>
          <a:xfrm>
            <a:off x="4591050" y="1289050"/>
            <a:ext cx="6303329" cy="6017032"/>
          </a:xfrm>
          <a:prstGeom prst="rect">
            <a:avLst/>
          </a:prstGeom>
          <a:noFill/>
        </p:spPr>
        <p:txBody>
          <a:bodyPr wrap="none" rtlCol="0">
            <a:spAutoFit/>
          </a:bodyPr>
          <a:lstStyle/>
          <a:p>
            <a:pPr>
              <a:buNone/>
            </a:pPr>
            <a:r>
              <a:rPr lang="en-US" sz="1100" b="0" i="0" dirty="0">
                <a:solidFill>
                  <a:srgbClr val="008013"/>
                </a:solidFill>
                <a:effectLst/>
                <a:latin typeface="Menlo"/>
              </a:rPr>
              <a:t>%% Load the data</a:t>
            </a:r>
            <a:endParaRPr lang="en-US" sz="1100" b="0" i="0" dirty="0">
              <a:effectLst/>
              <a:latin typeface="Menlo"/>
            </a:endParaRPr>
          </a:p>
          <a:p>
            <a:pPr>
              <a:buNone/>
            </a:pPr>
            <a:r>
              <a:rPr lang="en-US" sz="1100" b="0" i="0" dirty="0">
                <a:solidFill>
                  <a:srgbClr val="008013"/>
                </a:solidFill>
                <a:effectLst/>
                <a:latin typeface="Menlo"/>
              </a:rPr>
              <a:t>% Make sure variables are cleared before filling them, to avoid using old</a:t>
            </a:r>
            <a:endParaRPr lang="en-US" sz="1100" b="0" i="0" dirty="0">
              <a:effectLst/>
              <a:latin typeface="Menlo"/>
            </a:endParaRPr>
          </a:p>
          <a:p>
            <a:pPr>
              <a:buNone/>
            </a:pPr>
            <a:r>
              <a:rPr lang="en-US" sz="1100" b="0" i="0" dirty="0">
                <a:solidFill>
                  <a:srgbClr val="008013"/>
                </a:solidFill>
                <a:effectLst/>
                <a:latin typeface="Menlo"/>
              </a:rPr>
              <a:t>% data accidentally</a:t>
            </a:r>
            <a:endParaRPr lang="en-US" sz="1100" b="0" i="0" dirty="0">
              <a:effectLst/>
              <a:latin typeface="Menlo"/>
            </a:endParaRPr>
          </a:p>
          <a:p>
            <a:pPr>
              <a:buNone/>
            </a:pPr>
            <a:r>
              <a:rPr lang="en-US" sz="1100" b="0" i="0" dirty="0">
                <a:effectLst/>
                <a:latin typeface="Menlo"/>
              </a:rPr>
              <a:t>clear </a:t>
            </a:r>
            <a:r>
              <a:rPr lang="en-US" sz="1100" b="0" i="0" dirty="0" err="1">
                <a:solidFill>
                  <a:srgbClr val="A709F5"/>
                </a:solidFill>
                <a:effectLst/>
                <a:latin typeface="Menlo"/>
              </a:rPr>
              <a:t>positionsAndSpeeds</a:t>
            </a:r>
            <a:endParaRPr lang="en-US" sz="1100" b="0" i="0" dirty="0">
              <a:effectLst/>
              <a:latin typeface="Menlo"/>
            </a:endParaRPr>
          </a:p>
          <a:p>
            <a:pPr>
              <a:buNone/>
            </a:pPr>
            <a:r>
              <a:rPr lang="en-US" sz="1100" b="0" i="0" dirty="0" err="1">
                <a:effectLst/>
                <a:latin typeface="Menlo"/>
              </a:rPr>
              <a:t>positionsAndSpeeds</a:t>
            </a:r>
            <a:r>
              <a:rPr lang="en-US" sz="1100" b="0" i="0" dirty="0">
                <a:effectLst/>
                <a:latin typeface="Menlo"/>
              </a:rPr>
              <a:t> = [];</a:t>
            </a:r>
          </a:p>
          <a:p>
            <a:pPr>
              <a:buNone/>
            </a:pPr>
            <a:r>
              <a:rPr lang="en-US" sz="1100" b="0" i="0" dirty="0">
                <a:solidFill>
                  <a:srgbClr val="008013"/>
                </a:solidFill>
                <a:effectLst/>
                <a:latin typeface="Menlo"/>
              </a:rPr>
              <a:t>% Loop through all the files, loading data</a:t>
            </a:r>
            <a:endParaRPr lang="en-US" sz="1100" b="0" i="0" dirty="0">
              <a:effectLst/>
              <a:latin typeface="Menlo"/>
            </a:endParaRPr>
          </a:p>
          <a:p>
            <a:pPr>
              <a:buNone/>
            </a:pPr>
            <a:r>
              <a:rPr lang="en-US" sz="1100" b="0" i="0" dirty="0">
                <a:solidFill>
                  <a:srgbClr val="0E00FF"/>
                </a:solidFill>
                <a:effectLst/>
                <a:latin typeface="Menlo"/>
              </a:rPr>
              <a:t>for </a:t>
            </a:r>
            <a:r>
              <a:rPr lang="en-US" sz="1100" b="0" i="0" dirty="0" err="1">
                <a:effectLst/>
                <a:latin typeface="Menlo"/>
              </a:rPr>
              <a:t>ith_file</a:t>
            </a:r>
            <a:r>
              <a:rPr lang="en-US" sz="1100" b="0" i="0" dirty="0">
                <a:effectLst/>
                <a:latin typeface="Menlo"/>
              </a:rPr>
              <a:t> = 1:Nfiles</a:t>
            </a:r>
          </a:p>
          <a:p>
            <a:pPr lvl="1"/>
            <a:r>
              <a:rPr lang="en-US" sz="1100" b="0" i="0" dirty="0">
                <a:solidFill>
                  <a:srgbClr val="008013"/>
                </a:solidFill>
                <a:effectLst/>
                <a:latin typeface="Menlo"/>
              </a:rPr>
              <a:t>% % NOTE: the variables within each file can be seen by running the following</a:t>
            </a:r>
            <a:endParaRPr lang="en-US" sz="1100" b="0" i="0" dirty="0">
              <a:effectLst/>
              <a:latin typeface="Menlo"/>
            </a:endParaRPr>
          </a:p>
          <a:p>
            <a:pPr lvl="1"/>
            <a:r>
              <a:rPr lang="en-US" sz="1100" b="0" i="0" dirty="0">
                <a:solidFill>
                  <a:srgbClr val="008013"/>
                </a:solidFill>
                <a:effectLst/>
                <a:latin typeface="Menlo"/>
              </a:rPr>
              <a:t>% % command:</a:t>
            </a:r>
            <a:endParaRPr lang="en-US" sz="1100" b="0" i="0" dirty="0">
              <a:effectLst/>
              <a:latin typeface="Menlo"/>
            </a:endParaRPr>
          </a:p>
          <a:p>
            <a:pPr lvl="1"/>
            <a:r>
              <a:rPr lang="en-US" sz="1100" b="0" i="0" dirty="0">
                <a:solidFill>
                  <a:srgbClr val="008013"/>
                </a:solidFill>
                <a:effectLst/>
                <a:latin typeface="Menlo"/>
              </a:rPr>
              <a:t>% info = </a:t>
            </a:r>
            <a:r>
              <a:rPr lang="en-US" sz="1100" b="0" i="0" dirty="0" err="1">
                <a:solidFill>
                  <a:srgbClr val="008013"/>
                </a:solidFill>
                <a:effectLst/>
                <a:latin typeface="Menlo"/>
              </a:rPr>
              <a:t>whos</a:t>
            </a:r>
            <a:r>
              <a:rPr lang="en-US" sz="1100" b="0" i="0" dirty="0">
                <a:solidFill>
                  <a:srgbClr val="008013"/>
                </a:solidFill>
                <a:effectLst/>
                <a:latin typeface="Menlo"/>
              </a:rPr>
              <a:t>('-file', </a:t>
            </a:r>
            <a:r>
              <a:rPr lang="en-US" sz="1100" b="0" i="0" dirty="0" err="1">
                <a:solidFill>
                  <a:srgbClr val="008013"/>
                </a:solidFill>
                <a:effectLst/>
                <a:latin typeface="Menlo"/>
              </a:rPr>
              <a:t>filesToLoad</a:t>
            </a:r>
            <a:r>
              <a:rPr lang="en-US" sz="1100" b="0" i="0" dirty="0">
                <a:solidFill>
                  <a:srgbClr val="008013"/>
                </a:solidFill>
                <a:effectLst/>
                <a:latin typeface="Menlo"/>
              </a:rPr>
              <a:t>{</a:t>
            </a:r>
            <a:r>
              <a:rPr lang="en-US" sz="1100" b="0" i="0" dirty="0" err="1">
                <a:solidFill>
                  <a:srgbClr val="008013"/>
                </a:solidFill>
                <a:effectLst/>
                <a:latin typeface="Menlo"/>
              </a:rPr>
              <a:t>ith_file</a:t>
            </a:r>
            <a:r>
              <a:rPr lang="en-US" sz="1100" b="0" i="0" dirty="0">
                <a:solidFill>
                  <a:srgbClr val="008013"/>
                </a:solidFill>
                <a:effectLst/>
                <a:latin typeface="Menlo"/>
              </a:rPr>
              <a:t>});</a:t>
            </a:r>
            <a:endParaRPr lang="en-US" sz="1100" b="0" i="0" dirty="0">
              <a:effectLst/>
              <a:latin typeface="Menlo"/>
            </a:endParaRPr>
          </a:p>
          <a:p>
            <a:pPr lvl="1"/>
            <a:br>
              <a:rPr lang="en-US" sz="1100" b="0" i="0" dirty="0">
                <a:effectLst/>
                <a:latin typeface="Menlo"/>
              </a:rPr>
            </a:br>
            <a:endParaRPr lang="en-US" sz="1100" b="0" i="0" dirty="0">
              <a:effectLst/>
              <a:latin typeface="Menlo"/>
            </a:endParaRPr>
          </a:p>
          <a:p>
            <a:pPr lvl="1"/>
            <a:r>
              <a:rPr lang="en-US" sz="1100" b="0" i="0" dirty="0" err="1">
                <a:effectLst/>
                <a:latin typeface="Menlo"/>
              </a:rPr>
              <a:t>thisPositionDataTable</a:t>
            </a:r>
            <a:r>
              <a:rPr lang="en-US" sz="1100" b="0" i="0" dirty="0">
                <a:effectLst/>
                <a:latin typeface="Menlo"/>
              </a:rPr>
              <a:t> = load(</a:t>
            </a:r>
            <a:r>
              <a:rPr lang="en-US" sz="1100" b="0" i="0" dirty="0" err="1">
                <a:effectLst/>
                <a:latin typeface="Menlo"/>
              </a:rPr>
              <a:t>filesToLoad</a:t>
            </a:r>
            <a:r>
              <a:rPr lang="en-US" sz="1100" b="0" i="0" dirty="0">
                <a:effectLst/>
                <a:latin typeface="Menlo"/>
              </a:rPr>
              <a:t>{</a:t>
            </a:r>
            <a:r>
              <a:rPr lang="en-US" sz="1100" b="0" i="0" dirty="0" err="1">
                <a:effectLst/>
                <a:latin typeface="Menlo"/>
              </a:rPr>
              <a:t>ith_file</a:t>
            </a:r>
            <a:r>
              <a:rPr lang="en-US" sz="1100" b="0" i="0" dirty="0">
                <a:effectLst/>
                <a:latin typeface="Menlo"/>
              </a:rPr>
              <a:t>},</a:t>
            </a:r>
            <a:r>
              <a:rPr lang="en-US" sz="1100" b="0" i="0" dirty="0">
                <a:solidFill>
                  <a:srgbClr val="A709F5"/>
                </a:solidFill>
                <a:effectLst/>
                <a:latin typeface="Menlo"/>
              </a:rPr>
              <a:t>'Position'</a:t>
            </a:r>
            <a:r>
              <a:rPr lang="en-US" sz="1100" b="0" i="0" dirty="0">
                <a:effectLst/>
                <a:latin typeface="Menlo"/>
              </a:rPr>
              <a:t>);</a:t>
            </a:r>
          </a:p>
          <a:p>
            <a:pPr lvl="1"/>
            <a:r>
              <a:rPr lang="en-US" sz="1100" b="0" i="0" dirty="0" err="1">
                <a:effectLst/>
                <a:latin typeface="Menlo"/>
              </a:rPr>
              <a:t>thisLatitude</a:t>
            </a:r>
            <a:r>
              <a:rPr lang="en-US" sz="1100" b="0" i="0" dirty="0">
                <a:effectLst/>
                <a:latin typeface="Menlo"/>
              </a:rPr>
              <a:t> = </a:t>
            </a:r>
            <a:r>
              <a:rPr lang="en-US" sz="1100" b="0" i="0" dirty="0" err="1">
                <a:effectLst/>
                <a:latin typeface="Menlo"/>
              </a:rPr>
              <a:t>thisPositionDataTable.Position.latitude</a:t>
            </a:r>
            <a:r>
              <a:rPr lang="en-US" sz="1100" b="0" i="0" dirty="0">
                <a:effectLst/>
                <a:latin typeface="Menlo"/>
              </a:rPr>
              <a:t>;</a:t>
            </a:r>
          </a:p>
          <a:p>
            <a:pPr lvl="1"/>
            <a:r>
              <a:rPr lang="en-US" sz="1100" b="0" i="0" dirty="0" err="1">
                <a:effectLst/>
                <a:latin typeface="Menlo"/>
              </a:rPr>
              <a:t>thisLongitude</a:t>
            </a:r>
            <a:r>
              <a:rPr lang="en-US" sz="1100" b="0" i="0" dirty="0">
                <a:effectLst/>
                <a:latin typeface="Menlo"/>
              </a:rPr>
              <a:t> = </a:t>
            </a:r>
            <a:r>
              <a:rPr lang="en-US" sz="1100" b="0" i="0" dirty="0" err="1">
                <a:effectLst/>
                <a:latin typeface="Menlo"/>
              </a:rPr>
              <a:t>thisPositionDataTable.Position.longitude</a:t>
            </a:r>
            <a:r>
              <a:rPr lang="en-US" sz="1100" b="0" i="0" dirty="0">
                <a:effectLst/>
                <a:latin typeface="Menlo"/>
              </a:rPr>
              <a:t>;</a:t>
            </a:r>
          </a:p>
          <a:p>
            <a:pPr lvl="1"/>
            <a:r>
              <a:rPr lang="en-US" sz="1100" b="0" i="0" dirty="0" err="1">
                <a:effectLst/>
                <a:latin typeface="Menlo"/>
              </a:rPr>
              <a:t>thisSpeed</a:t>
            </a:r>
            <a:r>
              <a:rPr lang="en-US" sz="1100" b="0" i="0" dirty="0">
                <a:effectLst/>
                <a:latin typeface="Menlo"/>
              </a:rPr>
              <a:t> = </a:t>
            </a:r>
            <a:r>
              <a:rPr lang="en-US" sz="1100" b="0" i="0" dirty="0" err="1">
                <a:effectLst/>
                <a:latin typeface="Menlo"/>
              </a:rPr>
              <a:t>thisPositionDataTable.Position.speed</a:t>
            </a:r>
            <a:r>
              <a:rPr lang="en-US" sz="1100" b="0" i="0" dirty="0">
                <a:effectLst/>
                <a:latin typeface="Menlo"/>
              </a:rPr>
              <a:t>;</a:t>
            </a:r>
          </a:p>
          <a:p>
            <a:pPr lvl="1"/>
            <a:br>
              <a:rPr lang="en-US" sz="1100" b="0" i="0" dirty="0">
                <a:effectLst/>
                <a:latin typeface="Menlo"/>
              </a:rPr>
            </a:br>
            <a:endParaRPr lang="en-US" sz="1100" b="0" i="0" dirty="0">
              <a:effectLst/>
              <a:latin typeface="Menlo"/>
            </a:endParaRPr>
          </a:p>
          <a:p>
            <a:pPr lvl="1"/>
            <a:r>
              <a:rPr lang="en-US" sz="1100" b="0" i="0" dirty="0" err="1">
                <a:effectLst/>
                <a:latin typeface="Menlo"/>
              </a:rPr>
              <a:t>positionsAndSpeeds</a:t>
            </a:r>
            <a:r>
              <a:rPr lang="en-US" sz="1100" b="0" i="0" dirty="0">
                <a:effectLst/>
                <a:latin typeface="Menlo"/>
              </a:rPr>
              <a:t> = [</a:t>
            </a:r>
            <a:r>
              <a:rPr lang="en-US" sz="1100" b="0" i="0" dirty="0" err="1">
                <a:effectLst/>
                <a:latin typeface="Menlo"/>
              </a:rPr>
              <a:t>positionsAndSpeeds</a:t>
            </a:r>
            <a:r>
              <a:rPr lang="en-US" sz="1100" b="0" i="0" dirty="0">
                <a:effectLst/>
                <a:latin typeface="Menlo"/>
              </a:rPr>
              <a:t>; </a:t>
            </a:r>
            <a:r>
              <a:rPr lang="en-US" sz="1100" b="0" i="0" dirty="0" err="1">
                <a:effectLst/>
                <a:latin typeface="Menlo"/>
              </a:rPr>
              <a:t>thisLatitude</a:t>
            </a:r>
            <a:r>
              <a:rPr lang="en-US" sz="1100" b="0" i="0" dirty="0">
                <a:effectLst/>
                <a:latin typeface="Menlo"/>
              </a:rPr>
              <a:t> </a:t>
            </a:r>
            <a:r>
              <a:rPr lang="en-US" sz="1100" b="0" i="0" dirty="0" err="1">
                <a:effectLst/>
                <a:latin typeface="Menlo"/>
              </a:rPr>
              <a:t>thisLongitude</a:t>
            </a:r>
            <a:r>
              <a:rPr lang="en-US" sz="1100" b="0" i="0" dirty="0">
                <a:effectLst/>
                <a:latin typeface="Menlo"/>
              </a:rPr>
              <a:t> </a:t>
            </a:r>
            <a:r>
              <a:rPr lang="en-US" sz="1100" b="0" i="0" dirty="0" err="1">
                <a:effectLst/>
                <a:latin typeface="Menlo"/>
              </a:rPr>
              <a:t>thisSpeed</a:t>
            </a:r>
            <a:r>
              <a:rPr lang="en-US" sz="1100" b="0" i="0" dirty="0">
                <a:effectLst/>
                <a:latin typeface="Menlo"/>
              </a:rPr>
              <a:t>]; </a:t>
            </a:r>
            <a:r>
              <a:rPr lang="en-US" sz="1100" b="0" i="0" dirty="0">
                <a:solidFill>
                  <a:srgbClr val="008013"/>
                </a:solidFill>
                <a:effectLst/>
                <a:latin typeface="Menlo"/>
              </a:rPr>
              <a:t>%#ok&lt;AGROW&gt;</a:t>
            </a:r>
            <a:endParaRPr lang="en-US" sz="1100" b="0" i="0" dirty="0">
              <a:effectLst/>
              <a:latin typeface="Menlo"/>
            </a:endParaRPr>
          </a:p>
          <a:p>
            <a:pPr lvl="1"/>
            <a:br>
              <a:rPr lang="en-US" sz="1100" b="0" i="0" dirty="0">
                <a:effectLst/>
                <a:latin typeface="Menlo"/>
              </a:rPr>
            </a:br>
            <a:endParaRPr lang="en-US" sz="1100" b="0" i="0" dirty="0">
              <a:effectLst/>
              <a:latin typeface="Menlo"/>
            </a:endParaRPr>
          </a:p>
          <a:p>
            <a:pPr lvl="1"/>
            <a:r>
              <a:rPr lang="en-US" sz="1100" b="0" i="0" dirty="0">
                <a:solidFill>
                  <a:srgbClr val="008013"/>
                </a:solidFill>
                <a:effectLst/>
                <a:latin typeface="Menlo"/>
              </a:rPr>
              <a:t>% If this is NOT the last file, add </a:t>
            </a:r>
            <a:r>
              <a:rPr lang="en-US" sz="1100" b="0" i="0" dirty="0" err="1">
                <a:solidFill>
                  <a:srgbClr val="008013"/>
                </a:solidFill>
                <a:effectLst/>
                <a:latin typeface="Menlo"/>
              </a:rPr>
              <a:t>NaN</a:t>
            </a:r>
            <a:r>
              <a:rPr lang="en-US" sz="1100" b="0" i="0" dirty="0">
                <a:solidFill>
                  <a:srgbClr val="008013"/>
                </a:solidFill>
                <a:effectLst/>
                <a:latin typeface="Menlo"/>
              </a:rPr>
              <a:t> values between the data so that</a:t>
            </a:r>
            <a:endParaRPr lang="en-US" sz="1100" b="0" i="0" dirty="0">
              <a:effectLst/>
              <a:latin typeface="Menlo"/>
            </a:endParaRPr>
          </a:p>
          <a:p>
            <a:pPr lvl="1"/>
            <a:r>
              <a:rPr lang="en-US" sz="1100" b="0" i="0" dirty="0">
                <a:solidFill>
                  <a:srgbClr val="008013"/>
                </a:solidFill>
                <a:effectLst/>
                <a:latin typeface="Menlo"/>
              </a:rPr>
              <a:t>% the data will plot with gaps. </a:t>
            </a:r>
            <a:r>
              <a:rPr lang="en-US" sz="1100" b="0" i="0" dirty="0" err="1">
                <a:solidFill>
                  <a:srgbClr val="008013"/>
                </a:solidFill>
                <a:effectLst/>
                <a:latin typeface="Menlo"/>
              </a:rPr>
              <a:t>NaN</a:t>
            </a:r>
            <a:r>
              <a:rPr lang="en-US" sz="1100" b="0" i="0" dirty="0">
                <a:solidFill>
                  <a:srgbClr val="008013"/>
                </a:solidFill>
                <a:effectLst/>
                <a:latin typeface="Menlo"/>
              </a:rPr>
              <a:t> forces the "drawing pen" to "lift"</a:t>
            </a:r>
            <a:endParaRPr lang="en-US" sz="1100" b="0" i="0" dirty="0">
              <a:effectLst/>
              <a:latin typeface="Menlo"/>
            </a:endParaRPr>
          </a:p>
          <a:p>
            <a:pPr lvl="1"/>
            <a:r>
              <a:rPr lang="en-US" sz="1100" b="0" i="0" dirty="0">
                <a:solidFill>
                  <a:srgbClr val="008013"/>
                </a:solidFill>
                <a:effectLst/>
                <a:latin typeface="Menlo"/>
              </a:rPr>
              <a:t>% when plotting data to disconnect parts of data from each other. We</a:t>
            </a:r>
            <a:endParaRPr lang="en-US" sz="1100" b="0" i="0" dirty="0">
              <a:effectLst/>
              <a:latin typeface="Menlo"/>
            </a:endParaRPr>
          </a:p>
          <a:p>
            <a:pPr lvl="1"/>
            <a:r>
              <a:rPr lang="en-US" sz="1100" b="0" i="0" dirty="0">
                <a:solidFill>
                  <a:srgbClr val="008013"/>
                </a:solidFill>
                <a:effectLst/>
                <a:latin typeface="Menlo"/>
              </a:rPr>
              <a:t>% fill in a row of </a:t>
            </a:r>
            <a:r>
              <a:rPr lang="en-US" sz="1100" b="0" i="0" dirty="0" err="1">
                <a:solidFill>
                  <a:srgbClr val="008013"/>
                </a:solidFill>
                <a:effectLst/>
                <a:latin typeface="Menlo"/>
              </a:rPr>
              <a:t>NaN</a:t>
            </a:r>
            <a:r>
              <a:rPr lang="en-US" sz="1100" b="0" i="0" dirty="0">
                <a:solidFill>
                  <a:srgbClr val="008013"/>
                </a:solidFill>
                <a:effectLst/>
                <a:latin typeface="Menlo"/>
              </a:rPr>
              <a:t> values by simply multiplying the first row by</a:t>
            </a:r>
            <a:endParaRPr lang="en-US" sz="1100" b="0" i="0" dirty="0">
              <a:effectLst/>
              <a:latin typeface="Menlo"/>
            </a:endParaRPr>
          </a:p>
          <a:p>
            <a:pPr lvl="1"/>
            <a:r>
              <a:rPr lang="en-US" sz="1100" b="0" i="0" dirty="0">
                <a:solidFill>
                  <a:srgbClr val="008013"/>
                </a:solidFill>
                <a:effectLst/>
                <a:latin typeface="Menlo"/>
              </a:rPr>
              <a:t>% </a:t>
            </a:r>
            <a:r>
              <a:rPr lang="en-US" sz="1100" b="0" i="0" dirty="0" err="1">
                <a:solidFill>
                  <a:srgbClr val="008013"/>
                </a:solidFill>
                <a:effectLst/>
                <a:latin typeface="Menlo"/>
              </a:rPr>
              <a:t>NaN</a:t>
            </a:r>
            <a:r>
              <a:rPr lang="en-US" sz="1100" b="0" i="0" dirty="0">
                <a:solidFill>
                  <a:srgbClr val="008013"/>
                </a:solidFill>
                <a:effectLst/>
                <a:latin typeface="Menlo"/>
              </a:rPr>
              <a:t> and appending it to the end.</a:t>
            </a:r>
            <a:endParaRPr lang="en-US" sz="1100" b="0" i="0" dirty="0">
              <a:effectLst/>
              <a:latin typeface="Menlo"/>
            </a:endParaRPr>
          </a:p>
          <a:p>
            <a:pPr lvl="1"/>
            <a:br>
              <a:rPr lang="en-US" sz="1100" b="0" i="0" dirty="0">
                <a:effectLst/>
                <a:latin typeface="Menlo"/>
              </a:rPr>
            </a:br>
            <a:endParaRPr lang="en-US" sz="1100" b="0" i="0" dirty="0">
              <a:effectLst/>
              <a:latin typeface="Menlo"/>
            </a:endParaRPr>
          </a:p>
          <a:p>
            <a:pPr lvl="1"/>
            <a:r>
              <a:rPr lang="en-US" sz="1100" b="0" i="0" dirty="0">
                <a:solidFill>
                  <a:srgbClr val="0E00FF"/>
                </a:solidFill>
                <a:effectLst/>
                <a:latin typeface="Menlo"/>
              </a:rPr>
              <a:t>if </a:t>
            </a:r>
            <a:r>
              <a:rPr lang="en-US" sz="1100" b="0" i="0" dirty="0" err="1">
                <a:effectLst/>
                <a:latin typeface="Menlo"/>
              </a:rPr>
              <a:t>ith_file</a:t>
            </a:r>
            <a:r>
              <a:rPr lang="en-US" sz="1100" b="0" i="0" dirty="0">
                <a:effectLst/>
                <a:latin typeface="Menlo"/>
              </a:rPr>
              <a:t>&lt;</a:t>
            </a:r>
            <a:r>
              <a:rPr lang="en-US" sz="1100" b="0" i="0" dirty="0" err="1">
                <a:effectLst/>
                <a:latin typeface="Menlo"/>
              </a:rPr>
              <a:t>Nfiles</a:t>
            </a:r>
            <a:endParaRPr lang="en-US" sz="1100" b="0" i="0" dirty="0">
              <a:effectLst/>
              <a:latin typeface="Menlo"/>
            </a:endParaRPr>
          </a:p>
          <a:p>
            <a:pPr lvl="1"/>
            <a:r>
              <a:rPr lang="en-US" sz="1100" b="0" i="0" dirty="0" err="1">
                <a:effectLst/>
                <a:latin typeface="Menlo"/>
              </a:rPr>
              <a:t>positionsAndSpeeds</a:t>
            </a:r>
            <a:r>
              <a:rPr lang="en-US" sz="1100" b="0" i="0" dirty="0">
                <a:effectLst/>
                <a:latin typeface="Menlo"/>
              </a:rPr>
              <a:t> = [</a:t>
            </a:r>
            <a:r>
              <a:rPr lang="en-US" sz="1100" b="0" i="0" dirty="0" err="1">
                <a:effectLst/>
                <a:latin typeface="Menlo"/>
              </a:rPr>
              <a:t>positionsAndSpeeds</a:t>
            </a:r>
            <a:r>
              <a:rPr lang="en-US" sz="1100" b="0" i="0" dirty="0">
                <a:effectLst/>
                <a:latin typeface="Menlo"/>
              </a:rPr>
              <a:t>; nan*</a:t>
            </a:r>
            <a:r>
              <a:rPr lang="en-US" sz="1100" b="0" i="0" dirty="0" err="1">
                <a:effectLst/>
                <a:latin typeface="Menlo"/>
              </a:rPr>
              <a:t>positionsAndSpeeds</a:t>
            </a:r>
            <a:r>
              <a:rPr lang="en-US" sz="1100" b="0" i="0" dirty="0">
                <a:effectLst/>
                <a:latin typeface="Menlo"/>
              </a:rPr>
              <a:t>(1,:)]; </a:t>
            </a:r>
            <a:r>
              <a:rPr lang="en-US" sz="1100" b="0" i="0" dirty="0">
                <a:solidFill>
                  <a:srgbClr val="008013"/>
                </a:solidFill>
                <a:effectLst/>
                <a:latin typeface="Menlo"/>
              </a:rPr>
              <a:t>%#ok&lt;AGROW&gt;</a:t>
            </a:r>
            <a:endParaRPr lang="en-US" sz="1100" b="0" i="0" dirty="0">
              <a:effectLst/>
              <a:latin typeface="Menlo"/>
            </a:endParaRPr>
          </a:p>
          <a:p>
            <a:pPr lvl="1"/>
            <a:r>
              <a:rPr lang="en-US" sz="1100" b="0" i="0" dirty="0">
                <a:solidFill>
                  <a:srgbClr val="0E00FF"/>
                </a:solidFill>
                <a:effectLst/>
                <a:latin typeface="Menlo"/>
              </a:rPr>
              <a:t>end</a:t>
            </a:r>
            <a:endParaRPr lang="en-US" sz="1100" b="0" i="0" dirty="0">
              <a:effectLst/>
              <a:latin typeface="Menlo"/>
            </a:endParaRPr>
          </a:p>
          <a:p>
            <a:pPr>
              <a:buNone/>
            </a:pPr>
            <a:r>
              <a:rPr lang="en-US" sz="1100" b="0" i="0" dirty="0">
                <a:solidFill>
                  <a:srgbClr val="0E00FF"/>
                </a:solidFill>
                <a:effectLst/>
                <a:latin typeface="Menlo"/>
              </a:rPr>
              <a:t>end</a:t>
            </a:r>
            <a:endParaRPr lang="en-US" sz="1100" b="0" i="0" dirty="0">
              <a:effectLst/>
              <a:latin typeface="Menlo"/>
            </a:endParaRPr>
          </a:p>
          <a:p>
            <a:pPr>
              <a:buNone/>
            </a:pPr>
            <a:br>
              <a:rPr lang="en-US" sz="1100" b="0" i="0" dirty="0">
                <a:effectLst/>
                <a:latin typeface="Menlo"/>
              </a:rPr>
            </a:br>
            <a:endParaRPr lang="en-US" sz="1100" b="0" i="0" dirty="0">
              <a:effectLst/>
              <a:latin typeface="Menlo"/>
            </a:endParaRPr>
          </a:p>
          <a:p>
            <a:endParaRPr lang="en-US" sz="1100" dirty="0"/>
          </a:p>
        </p:txBody>
      </p:sp>
    </p:spTree>
    <p:extLst>
      <p:ext uri="{BB962C8B-B14F-4D97-AF65-F5344CB8AC3E}">
        <p14:creationId xmlns:p14="http://schemas.microsoft.com/office/powerpoint/2010/main" val="3351442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D1828-4D0B-5FCB-FF95-C39B9D971432}"/>
              </a:ext>
            </a:extLst>
          </p:cNvPr>
          <p:cNvSpPr>
            <a:spLocks noGrp="1"/>
          </p:cNvSpPr>
          <p:nvPr>
            <p:ph type="title"/>
          </p:nvPr>
        </p:nvSpPr>
        <p:spPr/>
        <p:txBody>
          <a:bodyPr/>
          <a:lstStyle/>
          <a:p>
            <a:r>
              <a:rPr lang="en-US" dirty="0"/>
              <a:t>The third and fourth sections plot the data</a:t>
            </a:r>
          </a:p>
        </p:txBody>
      </p:sp>
      <p:sp>
        <p:nvSpPr>
          <p:cNvPr id="4" name="TextBox 3">
            <a:extLst>
              <a:ext uri="{FF2B5EF4-FFF2-40B4-BE49-F238E27FC236}">
                <a16:creationId xmlns:a16="http://schemas.microsoft.com/office/drawing/2014/main" id="{B7CCE79D-B534-4C73-47EB-540F1216ED89}"/>
              </a:ext>
            </a:extLst>
          </p:cNvPr>
          <p:cNvSpPr txBox="1"/>
          <p:nvPr/>
        </p:nvSpPr>
        <p:spPr>
          <a:xfrm>
            <a:off x="571500" y="1574800"/>
            <a:ext cx="5470087" cy="3970318"/>
          </a:xfrm>
          <a:prstGeom prst="rect">
            <a:avLst/>
          </a:prstGeom>
          <a:noFill/>
        </p:spPr>
        <p:txBody>
          <a:bodyPr wrap="none" rtlCol="0">
            <a:spAutoFit/>
          </a:bodyPr>
          <a:lstStyle/>
          <a:p>
            <a:pPr>
              <a:buNone/>
            </a:pPr>
            <a:r>
              <a:rPr lang="en-US" sz="1400" b="0" i="0" dirty="0">
                <a:solidFill>
                  <a:srgbClr val="008013"/>
                </a:solidFill>
                <a:effectLst/>
                <a:latin typeface="Menlo"/>
              </a:rPr>
              <a:t>%% Plot the position data</a:t>
            </a:r>
            <a:endParaRPr lang="en-US" sz="1400" b="0" i="0" dirty="0">
              <a:effectLst/>
              <a:latin typeface="Menlo"/>
            </a:endParaRPr>
          </a:p>
          <a:p>
            <a:pPr>
              <a:buNone/>
            </a:pPr>
            <a:r>
              <a:rPr lang="en-US" sz="1400" b="0" i="0" dirty="0">
                <a:solidFill>
                  <a:srgbClr val="008013"/>
                </a:solidFill>
                <a:effectLst/>
                <a:latin typeface="Menlo"/>
              </a:rPr>
              <a:t>% Type "edit </a:t>
            </a:r>
            <a:r>
              <a:rPr lang="en-US" sz="1400" b="0" i="0" dirty="0" err="1">
                <a:solidFill>
                  <a:srgbClr val="008013"/>
                </a:solidFill>
                <a:effectLst/>
                <a:latin typeface="Menlo"/>
              </a:rPr>
              <a:t>script_test_fcn_plotRoad_plotLL</a:t>
            </a:r>
            <a:r>
              <a:rPr lang="en-US" sz="1400" b="0" i="0" dirty="0">
                <a:solidFill>
                  <a:srgbClr val="008013"/>
                </a:solidFill>
                <a:effectLst/>
                <a:latin typeface="Menlo"/>
              </a:rPr>
              <a:t>" to see a script that shows</a:t>
            </a:r>
            <a:endParaRPr lang="en-US" sz="1400" b="0" i="0" dirty="0">
              <a:effectLst/>
              <a:latin typeface="Menlo"/>
            </a:endParaRPr>
          </a:p>
          <a:p>
            <a:pPr>
              <a:buNone/>
            </a:pPr>
            <a:r>
              <a:rPr lang="en-US" sz="1400" b="0" i="0" dirty="0">
                <a:solidFill>
                  <a:srgbClr val="008013"/>
                </a:solidFill>
                <a:effectLst/>
                <a:latin typeface="Menlo"/>
              </a:rPr>
              <a:t>% how the function below is used.</a:t>
            </a:r>
            <a:endParaRPr lang="en-US" sz="1400" b="0" i="0" dirty="0">
              <a:effectLst/>
              <a:latin typeface="Menlo"/>
            </a:endParaRPr>
          </a:p>
          <a:p>
            <a:pPr>
              <a:buNone/>
            </a:pPr>
            <a:r>
              <a:rPr lang="en-US" sz="1400" b="0" i="0" dirty="0">
                <a:effectLst/>
                <a:latin typeface="Menlo"/>
              </a:rPr>
              <a:t>clear </a:t>
            </a:r>
            <a:r>
              <a:rPr lang="en-US" sz="1400" b="0" i="0" dirty="0" err="1">
                <a:solidFill>
                  <a:srgbClr val="A709F5"/>
                </a:solidFill>
                <a:effectLst/>
                <a:latin typeface="Menlo"/>
              </a:rPr>
              <a:t>plotFormat</a:t>
            </a:r>
            <a:endParaRPr lang="en-US" sz="1400" b="0" i="0" dirty="0">
              <a:effectLst/>
              <a:latin typeface="Menlo"/>
            </a:endParaRPr>
          </a:p>
          <a:p>
            <a:pPr>
              <a:buNone/>
            </a:pPr>
            <a:r>
              <a:rPr lang="en-US" sz="1400" b="0" i="0" dirty="0" err="1">
                <a:effectLst/>
                <a:latin typeface="Menlo"/>
              </a:rPr>
              <a:t>plotFormat.Color</a:t>
            </a:r>
            <a:r>
              <a:rPr lang="en-US" sz="1400" b="0" i="0" dirty="0">
                <a:effectLst/>
                <a:latin typeface="Menlo"/>
              </a:rPr>
              <a:t> = [0 1 1];</a:t>
            </a:r>
          </a:p>
          <a:p>
            <a:pPr>
              <a:buNone/>
            </a:pPr>
            <a:r>
              <a:rPr lang="en-US" sz="1400" b="0" i="0" dirty="0" err="1">
                <a:effectLst/>
                <a:latin typeface="Menlo"/>
              </a:rPr>
              <a:t>plotFormat.Marker</a:t>
            </a:r>
            <a:r>
              <a:rPr lang="en-US" sz="1400" b="0" i="0" dirty="0">
                <a:effectLst/>
                <a:latin typeface="Menlo"/>
              </a:rPr>
              <a:t> = </a:t>
            </a:r>
            <a:r>
              <a:rPr lang="en-US" sz="1400" b="0" i="0" dirty="0">
                <a:solidFill>
                  <a:srgbClr val="A709F5"/>
                </a:solidFill>
                <a:effectLst/>
                <a:latin typeface="Menlo"/>
              </a:rPr>
              <a:t>'.'</a:t>
            </a:r>
            <a:r>
              <a:rPr lang="en-US" sz="1400" b="0" i="0" dirty="0">
                <a:effectLst/>
                <a:latin typeface="Menlo"/>
              </a:rPr>
              <a:t>;</a:t>
            </a:r>
          </a:p>
          <a:p>
            <a:pPr>
              <a:buNone/>
            </a:pPr>
            <a:r>
              <a:rPr lang="en-US" sz="1400" b="0" i="0" dirty="0" err="1">
                <a:effectLst/>
                <a:latin typeface="Menlo"/>
              </a:rPr>
              <a:t>plotFormat.MarkerSize</a:t>
            </a:r>
            <a:r>
              <a:rPr lang="en-US" sz="1400" b="0" i="0" dirty="0">
                <a:effectLst/>
                <a:latin typeface="Menlo"/>
              </a:rPr>
              <a:t> = 50;</a:t>
            </a:r>
          </a:p>
          <a:p>
            <a:pPr>
              <a:buNone/>
            </a:pPr>
            <a:r>
              <a:rPr lang="en-US" sz="1400" b="0" i="0" dirty="0" err="1">
                <a:effectLst/>
                <a:latin typeface="Menlo"/>
              </a:rPr>
              <a:t>plotFormat.LineStyle</a:t>
            </a:r>
            <a:r>
              <a:rPr lang="en-US" sz="1400" b="0" i="0" dirty="0">
                <a:effectLst/>
                <a:latin typeface="Menlo"/>
              </a:rPr>
              <a:t> = </a:t>
            </a:r>
            <a:r>
              <a:rPr lang="en-US" sz="1400" b="0" i="0" dirty="0">
                <a:solidFill>
                  <a:srgbClr val="A709F5"/>
                </a:solidFill>
                <a:effectLst/>
                <a:latin typeface="Menlo"/>
              </a:rPr>
              <a:t>'-'</a:t>
            </a:r>
            <a:r>
              <a:rPr lang="en-US" sz="1400" b="0" i="0" dirty="0">
                <a:effectLst/>
                <a:latin typeface="Menlo"/>
              </a:rPr>
              <a:t>;</a:t>
            </a:r>
          </a:p>
          <a:p>
            <a:pPr>
              <a:buNone/>
            </a:pPr>
            <a:r>
              <a:rPr lang="en-US" sz="1400" b="0" i="0" dirty="0" err="1">
                <a:effectLst/>
                <a:latin typeface="Menlo"/>
              </a:rPr>
              <a:t>plotFormat.LineWidth</a:t>
            </a:r>
            <a:r>
              <a:rPr lang="en-US" sz="1400" b="0" i="0" dirty="0">
                <a:effectLst/>
                <a:latin typeface="Menlo"/>
              </a:rPr>
              <a:t> = 3;</a:t>
            </a:r>
          </a:p>
          <a:p>
            <a:pPr>
              <a:buNone/>
            </a:pPr>
            <a:br>
              <a:rPr lang="en-US" sz="1400" b="0" i="0" dirty="0">
                <a:effectLst/>
                <a:latin typeface="Menlo"/>
              </a:rPr>
            </a:br>
            <a:endParaRPr lang="en-US" sz="1400" b="0" i="0" dirty="0">
              <a:effectLst/>
              <a:latin typeface="Menlo"/>
            </a:endParaRPr>
          </a:p>
          <a:p>
            <a:pPr>
              <a:buNone/>
            </a:pPr>
            <a:r>
              <a:rPr lang="en-US" sz="1400" b="0" i="0" dirty="0" err="1">
                <a:effectLst/>
                <a:latin typeface="Menlo"/>
              </a:rPr>
              <a:t>figNum</a:t>
            </a:r>
            <a:r>
              <a:rPr lang="en-US" sz="1400" b="0" i="0" dirty="0">
                <a:effectLst/>
                <a:latin typeface="Menlo"/>
              </a:rPr>
              <a:t> = 1111; </a:t>
            </a:r>
            <a:r>
              <a:rPr lang="en-US" sz="1400" b="0" i="0" dirty="0">
                <a:solidFill>
                  <a:srgbClr val="008013"/>
                </a:solidFill>
                <a:effectLst/>
                <a:latin typeface="Menlo"/>
              </a:rPr>
              <a:t>% Set an arbitrary figure number</a:t>
            </a:r>
            <a:endParaRPr lang="en-US" sz="1400" b="0" i="0" dirty="0">
              <a:effectLst/>
              <a:latin typeface="Menlo"/>
            </a:endParaRPr>
          </a:p>
          <a:p>
            <a:pPr>
              <a:buNone/>
            </a:pPr>
            <a:r>
              <a:rPr lang="en-US" sz="1400" b="0" i="0" dirty="0">
                <a:effectLst/>
                <a:latin typeface="Menlo"/>
              </a:rPr>
              <a:t>figure(</a:t>
            </a:r>
            <a:r>
              <a:rPr lang="en-US" sz="1400" b="0" i="0" dirty="0" err="1">
                <a:effectLst/>
                <a:latin typeface="Menlo"/>
              </a:rPr>
              <a:t>figNum</a:t>
            </a:r>
            <a:r>
              <a:rPr lang="en-US" sz="1400" b="0" i="0" dirty="0">
                <a:effectLst/>
                <a:latin typeface="Menlo"/>
              </a:rPr>
              <a:t>); </a:t>
            </a:r>
            <a:r>
              <a:rPr lang="en-US" sz="1400" b="0" i="0" dirty="0" err="1">
                <a:effectLst/>
                <a:latin typeface="Menlo"/>
              </a:rPr>
              <a:t>clf</a:t>
            </a:r>
            <a:r>
              <a:rPr lang="en-US" sz="1400" b="0" i="0" dirty="0">
                <a:effectLst/>
                <a:latin typeface="Menlo"/>
              </a:rPr>
              <a:t>; </a:t>
            </a:r>
            <a:r>
              <a:rPr lang="en-US" sz="1400" b="0" i="0" dirty="0">
                <a:solidFill>
                  <a:srgbClr val="008013"/>
                </a:solidFill>
                <a:effectLst/>
                <a:latin typeface="Menlo"/>
              </a:rPr>
              <a:t>% Clear the figure</a:t>
            </a:r>
            <a:endParaRPr lang="en-US" sz="1400" b="0" i="0" dirty="0">
              <a:effectLst/>
              <a:latin typeface="Menlo"/>
            </a:endParaRPr>
          </a:p>
          <a:p>
            <a:pPr>
              <a:buNone/>
            </a:pPr>
            <a:br>
              <a:rPr lang="en-US" sz="1400" b="0" i="0" dirty="0">
                <a:effectLst/>
                <a:latin typeface="Menlo"/>
              </a:rPr>
            </a:br>
            <a:endParaRPr lang="en-US" sz="1400" b="0" i="0" dirty="0">
              <a:effectLst/>
              <a:latin typeface="Menlo"/>
            </a:endParaRPr>
          </a:p>
          <a:p>
            <a:pPr>
              <a:buNone/>
            </a:pPr>
            <a:r>
              <a:rPr lang="en-US" sz="1400" b="0" i="0" dirty="0">
                <a:solidFill>
                  <a:srgbClr val="008013"/>
                </a:solidFill>
                <a:effectLst/>
                <a:latin typeface="Menlo"/>
              </a:rPr>
              <a:t>% Plot the data into the figure</a:t>
            </a:r>
            <a:endParaRPr lang="en-US" sz="1400" b="0" i="0" dirty="0">
              <a:effectLst/>
              <a:latin typeface="Menlo"/>
            </a:endParaRPr>
          </a:p>
          <a:p>
            <a:pPr>
              <a:buNone/>
            </a:pPr>
            <a:r>
              <a:rPr lang="en-US" sz="1400" b="0" i="0" dirty="0" err="1">
                <a:effectLst/>
                <a:latin typeface="Menlo"/>
              </a:rPr>
              <a:t>fcn_plotRoad_plotLL</a:t>
            </a:r>
            <a:r>
              <a:rPr lang="en-US" sz="1400" b="0" i="0" dirty="0">
                <a:effectLst/>
                <a:latin typeface="Menlo"/>
              </a:rPr>
              <a:t>(</a:t>
            </a:r>
            <a:r>
              <a:rPr lang="en-US" sz="1400" b="0" i="0" dirty="0" err="1">
                <a:effectLst/>
                <a:latin typeface="Menlo"/>
              </a:rPr>
              <a:t>positionsAndSpeeds</a:t>
            </a:r>
            <a:r>
              <a:rPr lang="en-US" sz="1400" b="0" i="0" dirty="0">
                <a:effectLst/>
                <a:latin typeface="Menlo"/>
              </a:rPr>
              <a:t>(:,1:2), </a:t>
            </a:r>
            <a:r>
              <a:rPr lang="en-US" sz="1400" b="0" i="0" dirty="0" err="1">
                <a:effectLst/>
                <a:latin typeface="Menlo"/>
              </a:rPr>
              <a:t>plotFormat</a:t>
            </a:r>
            <a:r>
              <a:rPr lang="en-US" sz="1400" b="0" i="0" dirty="0">
                <a:effectLst/>
                <a:latin typeface="Menlo"/>
              </a:rPr>
              <a:t>, </a:t>
            </a:r>
            <a:r>
              <a:rPr lang="en-US" sz="1400" b="0" i="0" dirty="0" err="1">
                <a:effectLst/>
                <a:latin typeface="Menlo"/>
              </a:rPr>
              <a:t>figNum</a:t>
            </a:r>
            <a:r>
              <a:rPr lang="en-US" sz="1400" b="0" i="0" dirty="0">
                <a:effectLst/>
                <a:latin typeface="Menlo"/>
              </a:rPr>
              <a:t>);</a:t>
            </a:r>
          </a:p>
          <a:p>
            <a:endParaRPr lang="en-US" sz="1400" dirty="0"/>
          </a:p>
        </p:txBody>
      </p:sp>
      <p:sp>
        <p:nvSpPr>
          <p:cNvPr id="5" name="TextBox 4">
            <a:extLst>
              <a:ext uri="{FF2B5EF4-FFF2-40B4-BE49-F238E27FC236}">
                <a16:creationId xmlns:a16="http://schemas.microsoft.com/office/drawing/2014/main" id="{CD985C0B-F02B-7CB9-D205-D4E7CF39E1AE}"/>
              </a:ext>
            </a:extLst>
          </p:cNvPr>
          <p:cNvSpPr txBox="1"/>
          <p:nvPr/>
        </p:nvSpPr>
        <p:spPr>
          <a:xfrm>
            <a:off x="6210300" y="1384300"/>
            <a:ext cx="6877050" cy="5586145"/>
          </a:xfrm>
          <a:prstGeom prst="rect">
            <a:avLst/>
          </a:prstGeom>
          <a:noFill/>
        </p:spPr>
        <p:txBody>
          <a:bodyPr wrap="square" rtlCol="0">
            <a:spAutoFit/>
          </a:bodyPr>
          <a:lstStyle/>
          <a:p>
            <a:pPr>
              <a:buNone/>
            </a:pPr>
            <a:r>
              <a:rPr lang="en-US" sz="1050" b="0" i="0" dirty="0">
                <a:solidFill>
                  <a:srgbClr val="008013"/>
                </a:solidFill>
                <a:effectLst/>
                <a:latin typeface="Menlo"/>
              </a:rPr>
              <a:t>%% Plot the positions, colored by speeds</a:t>
            </a:r>
            <a:endParaRPr lang="en-US" sz="1050" b="0" i="0" dirty="0">
              <a:effectLst/>
              <a:latin typeface="Menlo"/>
            </a:endParaRPr>
          </a:p>
          <a:p>
            <a:pPr>
              <a:buNone/>
            </a:pPr>
            <a:r>
              <a:rPr lang="en-US" sz="1050" b="0" i="0" dirty="0">
                <a:solidFill>
                  <a:srgbClr val="008013"/>
                </a:solidFill>
                <a:effectLst/>
                <a:latin typeface="Menlo"/>
              </a:rPr>
              <a:t>% Type "edit </a:t>
            </a:r>
            <a:r>
              <a:rPr lang="en-US" sz="1050" b="0" i="0" dirty="0" err="1">
                <a:solidFill>
                  <a:srgbClr val="008013"/>
                </a:solidFill>
                <a:effectLst/>
                <a:latin typeface="Menlo"/>
              </a:rPr>
              <a:t>script_test_fcn_plotRoad_plotLLI</a:t>
            </a:r>
            <a:r>
              <a:rPr lang="en-US" sz="1050" b="0" i="0" dirty="0">
                <a:solidFill>
                  <a:srgbClr val="008013"/>
                </a:solidFill>
                <a:effectLst/>
                <a:latin typeface="Menlo"/>
              </a:rPr>
              <a:t>" to see a script that shows</a:t>
            </a:r>
            <a:endParaRPr lang="en-US" sz="1050" b="0" i="0" dirty="0">
              <a:effectLst/>
              <a:latin typeface="Menlo"/>
            </a:endParaRPr>
          </a:p>
          <a:p>
            <a:pPr>
              <a:buNone/>
            </a:pPr>
            <a:r>
              <a:rPr lang="en-US" sz="1050" b="0" i="0" dirty="0">
                <a:solidFill>
                  <a:srgbClr val="008013"/>
                </a:solidFill>
                <a:effectLst/>
                <a:latin typeface="Menlo"/>
              </a:rPr>
              <a:t>% how the function below is used.</a:t>
            </a:r>
            <a:endParaRPr lang="en-US" sz="1050" b="0" i="0" dirty="0">
              <a:effectLst/>
              <a:latin typeface="Menlo"/>
            </a:endParaRPr>
          </a:p>
          <a:p>
            <a:pPr>
              <a:buNone/>
            </a:pPr>
            <a:endParaRPr lang="en-US" sz="1050" b="0" i="0" dirty="0">
              <a:effectLst/>
              <a:latin typeface="Menlo"/>
            </a:endParaRPr>
          </a:p>
          <a:p>
            <a:pPr>
              <a:buNone/>
            </a:pPr>
            <a:r>
              <a:rPr lang="en-US" sz="1050" b="0" i="0" dirty="0" err="1">
                <a:effectLst/>
                <a:latin typeface="Menlo"/>
              </a:rPr>
              <a:t>LLIdata</a:t>
            </a:r>
            <a:r>
              <a:rPr lang="en-US" sz="1050" b="0" i="0" dirty="0">
                <a:effectLst/>
                <a:latin typeface="Menlo"/>
              </a:rPr>
              <a:t> = </a:t>
            </a:r>
            <a:r>
              <a:rPr lang="en-US" sz="1050" b="0" i="0" dirty="0" err="1">
                <a:effectLst/>
                <a:latin typeface="Menlo"/>
              </a:rPr>
              <a:t>positionsAndSpeeds</a:t>
            </a:r>
            <a:r>
              <a:rPr lang="en-US" sz="1050" b="0" i="0" dirty="0">
                <a:effectLst/>
                <a:latin typeface="Menlo"/>
              </a:rPr>
              <a:t>(:,1:3);</a:t>
            </a:r>
          </a:p>
          <a:p>
            <a:pPr>
              <a:buNone/>
            </a:pPr>
            <a:endParaRPr lang="en-US" sz="1050" b="0" i="0" dirty="0">
              <a:effectLst/>
              <a:latin typeface="Menlo"/>
            </a:endParaRPr>
          </a:p>
          <a:p>
            <a:pPr>
              <a:buNone/>
            </a:pPr>
            <a:r>
              <a:rPr lang="en-US" sz="1050" b="0" i="0" dirty="0" err="1">
                <a:effectLst/>
                <a:latin typeface="Menlo"/>
              </a:rPr>
              <a:t>figNum</a:t>
            </a:r>
            <a:r>
              <a:rPr lang="en-US" sz="1050" b="0" i="0" dirty="0">
                <a:effectLst/>
                <a:latin typeface="Menlo"/>
              </a:rPr>
              <a:t> = 2222; </a:t>
            </a:r>
            <a:r>
              <a:rPr lang="en-US" sz="1050" b="0" i="0" dirty="0">
                <a:solidFill>
                  <a:srgbClr val="008013"/>
                </a:solidFill>
                <a:effectLst/>
                <a:latin typeface="Menlo"/>
              </a:rPr>
              <a:t>% Set an arbitrary figure number</a:t>
            </a:r>
            <a:endParaRPr lang="en-US" sz="1050" b="0" i="0" dirty="0">
              <a:effectLst/>
              <a:latin typeface="Menlo"/>
            </a:endParaRPr>
          </a:p>
          <a:p>
            <a:pPr>
              <a:buNone/>
            </a:pPr>
            <a:r>
              <a:rPr lang="en-US" sz="1050" b="0" i="0" dirty="0">
                <a:effectLst/>
                <a:latin typeface="Menlo"/>
              </a:rPr>
              <a:t>figure(</a:t>
            </a:r>
            <a:r>
              <a:rPr lang="en-US" sz="1050" b="0" i="0" dirty="0" err="1">
                <a:effectLst/>
                <a:latin typeface="Menlo"/>
              </a:rPr>
              <a:t>figNum</a:t>
            </a:r>
            <a:r>
              <a:rPr lang="en-US" sz="1050" b="0" i="0" dirty="0">
                <a:effectLst/>
                <a:latin typeface="Menlo"/>
              </a:rPr>
              <a:t>); </a:t>
            </a:r>
            <a:r>
              <a:rPr lang="en-US" sz="1050" b="0" i="0" dirty="0" err="1">
                <a:effectLst/>
                <a:latin typeface="Menlo"/>
              </a:rPr>
              <a:t>clf</a:t>
            </a:r>
            <a:r>
              <a:rPr lang="en-US" sz="1050" b="0" i="0" dirty="0">
                <a:effectLst/>
                <a:latin typeface="Menlo"/>
              </a:rPr>
              <a:t>; </a:t>
            </a:r>
            <a:r>
              <a:rPr lang="en-US" sz="1050" b="0" i="0" dirty="0">
                <a:solidFill>
                  <a:srgbClr val="008013"/>
                </a:solidFill>
                <a:effectLst/>
                <a:latin typeface="Menlo"/>
              </a:rPr>
              <a:t>% Clear the figure</a:t>
            </a:r>
            <a:endParaRPr lang="en-US" sz="1050" b="0" i="0" dirty="0">
              <a:effectLst/>
              <a:latin typeface="Menlo"/>
            </a:endParaRPr>
          </a:p>
          <a:p>
            <a:pPr>
              <a:buNone/>
            </a:pPr>
            <a:endParaRPr lang="en-US" sz="1050" b="0" i="0" dirty="0">
              <a:effectLst/>
              <a:latin typeface="Menlo"/>
            </a:endParaRPr>
          </a:p>
          <a:p>
            <a:pPr>
              <a:buNone/>
            </a:pPr>
            <a:r>
              <a:rPr lang="en-US" sz="1050" b="0" i="0" dirty="0">
                <a:effectLst/>
                <a:latin typeface="Menlo"/>
              </a:rPr>
              <a:t>clear </a:t>
            </a:r>
            <a:r>
              <a:rPr lang="en-US" sz="1050" b="0" i="0" dirty="0" err="1">
                <a:solidFill>
                  <a:srgbClr val="A709F5"/>
                </a:solidFill>
                <a:effectLst/>
                <a:latin typeface="Menlo"/>
              </a:rPr>
              <a:t>plotFormat</a:t>
            </a:r>
            <a:endParaRPr lang="en-US" sz="1050" b="0" i="0" dirty="0">
              <a:effectLst/>
              <a:latin typeface="Menlo"/>
            </a:endParaRPr>
          </a:p>
          <a:p>
            <a:pPr>
              <a:buNone/>
            </a:pPr>
            <a:r>
              <a:rPr lang="en-US" sz="1050" b="0" i="0" dirty="0" err="1">
                <a:effectLst/>
                <a:latin typeface="Menlo"/>
              </a:rPr>
              <a:t>plotFormat.LineStyle</a:t>
            </a:r>
            <a:r>
              <a:rPr lang="en-US" sz="1050" b="0" i="0" dirty="0">
                <a:effectLst/>
                <a:latin typeface="Menlo"/>
              </a:rPr>
              <a:t> = </a:t>
            </a:r>
            <a:r>
              <a:rPr lang="en-US" sz="1050" b="0" i="0" dirty="0">
                <a:solidFill>
                  <a:srgbClr val="A709F5"/>
                </a:solidFill>
                <a:effectLst/>
                <a:latin typeface="Menlo"/>
              </a:rPr>
              <a:t>'none'</a:t>
            </a:r>
            <a:r>
              <a:rPr lang="en-US" sz="1050" b="0" i="0" dirty="0">
                <a:effectLst/>
                <a:latin typeface="Menlo"/>
              </a:rPr>
              <a:t>;</a:t>
            </a:r>
          </a:p>
          <a:p>
            <a:pPr>
              <a:buNone/>
            </a:pPr>
            <a:r>
              <a:rPr lang="en-US" sz="1050" b="0" i="0" dirty="0" err="1">
                <a:effectLst/>
                <a:latin typeface="Menlo"/>
              </a:rPr>
              <a:t>plotFormat.LineWidth</a:t>
            </a:r>
            <a:r>
              <a:rPr lang="en-US" sz="1050" b="0" i="0" dirty="0">
                <a:effectLst/>
                <a:latin typeface="Menlo"/>
              </a:rPr>
              <a:t> = 3;</a:t>
            </a:r>
          </a:p>
          <a:p>
            <a:pPr>
              <a:buNone/>
            </a:pPr>
            <a:r>
              <a:rPr lang="en-US" sz="1050" b="0" i="0" dirty="0" err="1">
                <a:effectLst/>
                <a:latin typeface="Menlo"/>
              </a:rPr>
              <a:t>plotFormat.Marker</a:t>
            </a:r>
            <a:r>
              <a:rPr lang="en-US" sz="1050" b="0" i="0" dirty="0">
                <a:effectLst/>
                <a:latin typeface="Menlo"/>
              </a:rPr>
              <a:t> = </a:t>
            </a:r>
            <a:r>
              <a:rPr lang="en-US" sz="1050" b="0" i="0" dirty="0">
                <a:solidFill>
                  <a:srgbClr val="A709F5"/>
                </a:solidFill>
                <a:effectLst/>
                <a:latin typeface="Menlo"/>
              </a:rPr>
              <a:t>'.'</a:t>
            </a:r>
            <a:r>
              <a:rPr lang="en-US" sz="1050" b="0" i="0" dirty="0">
                <a:effectLst/>
                <a:latin typeface="Menlo"/>
              </a:rPr>
              <a:t>;</a:t>
            </a:r>
          </a:p>
          <a:p>
            <a:pPr>
              <a:buNone/>
            </a:pPr>
            <a:r>
              <a:rPr lang="en-US" sz="1050" b="0" i="0" dirty="0" err="1">
                <a:effectLst/>
                <a:latin typeface="Menlo"/>
              </a:rPr>
              <a:t>plotFormat.MarkerSize</a:t>
            </a:r>
            <a:r>
              <a:rPr lang="en-US" sz="1050" b="0" i="0" dirty="0">
                <a:effectLst/>
                <a:latin typeface="Menlo"/>
              </a:rPr>
              <a:t> = 5;</a:t>
            </a:r>
          </a:p>
          <a:p>
            <a:pPr>
              <a:buNone/>
            </a:pPr>
            <a:r>
              <a:rPr lang="en-US" sz="1050" b="0" i="0" dirty="0" err="1">
                <a:effectLst/>
                <a:latin typeface="Menlo"/>
              </a:rPr>
              <a:t>colorMapString</a:t>
            </a:r>
            <a:r>
              <a:rPr lang="en-US" sz="1050" b="0" i="0" dirty="0">
                <a:effectLst/>
                <a:latin typeface="Menlo"/>
              </a:rPr>
              <a:t> = </a:t>
            </a:r>
            <a:r>
              <a:rPr lang="en-US" sz="1050" b="0" i="0" dirty="0">
                <a:solidFill>
                  <a:srgbClr val="A709F5"/>
                </a:solidFill>
                <a:effectLst/>
                <a:latin typeface="Menlo"/>
              </a:rPr>
              <a:t>'turbo'</a:t>
            </a:r>
            <a:r>
              <a:rPr lang="en-US" sz="1050" b="0" i="0" dirty="0">
                <a:effectLst/>
                <a:latin typeface="Menlo"/>
              </a:rPr>
              <a:t>;</a:t>
            </a:r>
          </a:p>
          <a:p>
            <a:pPr>
              <a:buNone/>
            </a:pPr>
            <a:br>
              <a:rPr lang="en-US" sz="1050" b="0" i="0" dirty="0">
                <a:effectLst/>
                <a:latin typeface="Menlo"/>
              </a:rPr>
            </a:br>
            <a:r>
              <a:rPr lang="en-US" sz="1050" b="0" i="0" dirty="0">
                <a:solidFill>
                  <a:srgbClr val="008013"/>
                </a:solidFill>
                <a:effectLst/>
                <a:latin typeface="Menlo"/>
              </a:rPr>
              <a:t>% Reduce the colormap</a:t>
            </a:r>
            <a:endParaRPr lang="en-US" sz="1050" b="0" i="0" dirty="0">
              <a:effectLst/>
              <a:latin typeface="Menlo"/>
            </a:endParaRPr>
          </a:p>
          <a:p>
            <a:pPr>
              <a:buNone/>
            </a:pPr>
            <a:r>
              <a:rPr lang="en-US" sz="1050" b="0" i="0" dirty="0" err="1">
                <a:effectLst/>
                <a:latin typeface="Menlo"/>
              </a:rPr>
              <a:t>Ncolors</a:t>
            </a:r>
            <a:r>
              <a:rPr lang="en-US" sz="1050" b="0" i="0" dirty="0">
                <a:effectLst/>
                <a:latin typeface="Menlo"/>
              </a:rPr>
              <a:t> = 10;</a:t>
            </a:r>
          </a:p>
          <a:p>
            <a:pPr>
              <a:buNone/>
            </a:pPr>
            <a:r>
              <a:rPr lang="en-US" sz="1050" b="0" i="0" dirty="0" err="1">
                <a:effectLst/>
                <a:latin typeface="Menlo"/>
              </a:rPr>
              <a:t>colorMapMatrix</a:t>
            </a:r>
            <a:r>
              <a:rPr lang="en-US" sz="1050" b="0" i="0" dirty="0">
                <a:effectLst/>
                <a:latin typeface="Menlo"/>
              </a:rPr>
              <a:t> = colormap(</a:t>
            </a:r>
            <a:r>
              <a:rPr lang="en-US" sz="1050" b="0" i="0" dirty="0" err="1">
                <a:effectLst/>
                <a:latin typeface="Menlo"/>
              </a:rPr>
              <a:t>colorMapString</a:t>
            </a:r>
            <a:r>
              <a:rPr lang="en-US" sz="1050" b="0" i="0" dirty="0">
                <a:effectLst/>
                <a:latin typeface="Menlo"/>
              </a:rPr>
              <a:t>);</a:t>
            </a:r>
          </a:p>
          <a:p>
            <a:pPr>
              <a:buNone/>
            </a:pPr>
            <a:r>
              <a:rPr lang="en-US" sz="1050" b="0" i="0" dirty="0" err="1">
                <a:effectLst/>
                <a:latin typeface="Menlo"/>
              </a:rPr>
              <a:t>reducedColorMap</a:t>
            </a:r>
            <a:r>
              <a:rPr lang="en-US" sz="1050" b="0" i="0" dirty="0">
                <a:effectLst/>
                <a:latin typeface="Menlo"/>
              </a:rPr>
              <a:t> = </a:t>
            </a:r>
            <a:r>
              <a:rPr lang="en-US" sz="1050" b="0" i="0" dirty="0" err="1">
                <a:effectLst/>
                <a:latin typeface="Menlo"/>
              </a:rPr>
              <a:t>fcn_plotRoad_reduceColorMap</a:t>
            </a:r>
            <a:r>
              <a:rPr lang="en-US" sz="1050" b="0" i="0" dirty="0">
                <a:effectLst/>
                <a:latin typeface="Menlo"/>
              </a:rPr>
              <a:t>(</a:t>
            </a:r>
            <a:r>
              <a:rPr lang="en-US" sz="1050" b="0" i="0" dirty="0" err="1">
                <a:effectLst/>
                <a:latin typeface="Menlo"/>
              </a:rPr>
              <a:t>colorMapMatrix</a:t>
            </a:r>
            <a:r>
              <a:rPr lang="en-US" sz="1050" b="0" i="0" dirty="0">
                <a:effectLst/>
                <a:latin typeface="Menlo"/>
              </a:rPr>
              <a:t>, </a:t>
            </a:r>
            <a:r>
              <a:rPr lang="en-US" sz="1050" b="0" i="0" dirty="0" err="1">
                <a:effectLst/>
                <a:latin typeface="Menlo"/>
              </a:rPr>
              <a:t>Ncolors</a:t>
            </a:r>
            <a:r>
              <a:rPr lang="en-US" sz="1050" b="0" i="0" dirty="0">
                <a:effectLst/>
                <a:latin typeface="Menlo"/>
              </a:rPr>
              <a:t>, -1);</a:t>
            </a:r>
          </a:p>
          <a:p>
            <a:pPr>
              <a:buNone/>
            </a:pPr>
            <a:endParaRPr lang="en-US" sz="1050" b="0" i="0" dirty="0">
              <a:effectLst/>
              <a:latin typeface="Menlo"/>
            </a:endParaRPr>
          </a:p>
          <a:p>
            <a:pPr>
              <a:buNone/>
            </a:pPr>
            <a:r>
              <a:rPr lang="en-US" sz="1050" b="0" i="0" dirty="0">
                <a:solidFill>
                  <a:srgbClr val="008013"/>
                </a:solidFill>
                <a:effectLst/>
                <a:latin typeface="Menlo"/>
              </a:rPr>
              <a:t>% Specify the sizes (must be same size as </a:t>
            </a:r>
            <a:r>
              <a:rPr lang="en-US" sz="1050" b="0" i="0" dirty="0" err="1">
                <a:solidFill>
                  <a:srgbClr val="008013"/>
                </a:solidFill>
                <a:effectLst/>
                <a:latin typeface="Menlo"/>
              </a:rPr>
              <a:t>reducedColorMap</a:t>
            </a:r>
            <a:r>
              <a:rPr lang="en-US" sz="1050" b="0" i="0" dirty="0">
                <a:solidFill>
                  <a:srgbClr val="008013"/>
                </a:solidFill>
                <a:effectLst/>
                <a:latin typeface="Menlo"/>
              </a:rPr>
              <a:t>)</a:t>
            </a:r>
            <a:endParaRPr lang="en-US" sz="1050" b="0" i="0" dirty="0">
              <a:effectLst/>
              <a:latin typeface="Menlo"/>
            </a:endParaRPr>
          </a:p>
          <a:p>
            <a:pPr>
              <a:buNone/>
            </a:pPr>
            <a:r>
              <a:rPr lang="en-US" sz="1050" b="0" i="0" dirty="0" err="1">
                <a:effectLst/>
                <a:latin typeface="Menlo"/>
              </a:rPr>
              <a:t>markerSizeMatrix</a:t>
            </a:r>
            <a:r>
              <a:rPr lang="en-US" sz="1050" b="0" i="0" dirty="0">
                <a:effectLst/>
                <a:latin typeface="Menlo"/>
              </a:rPr>
              <a:t> = 2*(1:Ncolors)';</a:t>
            </a:r>
          </a:p>
          <a:p>
            <a:pPr>
              <a:buNone/>
            </a:pPr>
            <a:r>
              <a:rPr lang="en-US" sz="1050" b="0" i="0" dirty="0" err="1">
                <a:effectLst/>
                <a:latin typeface="Menlo"/>
              </a:rPr>
              <a:t>plotFormat.MarkerSize</a:t>
            </a:r>
            <a:r>
              <a:rPr lang="en-US" sz="1050" b="0" i="0" dirty="0">
                <a:effectLst/>
                <a:latin typeface="Menlo"/>
              </a:rPr>
              <a:t> = </a:t>
            </a:r>
            <a:r>
              <a:rPr lang="en-US" sz="1050" b="0" i="0" dirty="0" err="1">
                <a:effectLst/>
                <a:latin typeface="Menlo"/>
              </a:rPr>
              <a:t>markerSizeMatrix</a:t>
            </a:r>
            <a:r>
              <a:rPr lang="en-US" sz="1050" b="0" i="0" dirty="0">
                <a:effectLst/>
                <a:latin typeface="Menlo"/>
              </a:rPr>
              <a:t>;</a:t>
            </a:r>
          </a:p>
          <a:p>
            <a:pPr>
              <a:buNone/>
            </a:pPr>
            <a:r>
              <a:rPr lang="en-US" sz="1050" b="0" i="0" dirty="0">
                <a:effectLst/>
                <a:latin typeface="Menlo"/>
              </a:rPr>
              <a:t>[</a:t>
            </a:r>
            <a:r>
              <a:rPr lang="en-US" sz="1050" b="0" i="0" dirty="0" err="1">
                <a:effectLst/>
                <a:latin typeface="Menlo"/>
              </a:rPr>
              <a:t>h_plot</a:t>
            </a:r>
            <a:r>
              <a:rPr lang="en-US" sz="1050" b="0" i="0" dirty="0">
                <a:effectLst/>
                <a:latin typeface="Menlo"/>
              </a:rPr>
              <a:t>, </a:t>
            </a:r>
            <a:r>
              <a:rPr lang="en-US" sz="1050" b="0" i="0" dirty="0" err="1">
                <a:effectLst/>
                <a:latin typeface="Menlo"/>
              </a:rPr>
              <a:t>indiciesInEachPlot</a:t>
            </a:r>
            <a:r>
              <a:rPr lang="en-US" sz="1050" b="0" i="0" dirty="0">
                <a:effectLst/>
                <a:latin typeface="Menlo"/>
              </a:rPr>
              <a:t>] = </a:t>
            </a:r>
            <a:r>
              <a:rPr lang="en-US" sz="1050" b="0" i="0" dirty="0" err="1">
                <a:effectLst/>
                <a:latin typeface="Menlo"/>
              </a:rPr>
              <a:t>fcn_plotRoad_plotLLI</a:t>
            </a:r>
            <a:r>
              <a:rPr lang="en-US" sz="1050" b="0" i="0" dirty="0">
                <a:effectLst/>
                <a:latin typeface="Menlo"/>
              </a:rPr>
              <a:t>(</a:t>
            </a:r>
            <a:r>
              <a:rPr lang="en-US" sz="1050" b="0" i="0" dirty="0" err="1">
                <a:effectLst/>
                <a:latin typeface="Menlo"/>
              </a:rPr>
              <a:t>LLIdata</a:t>
            </a:r>
            <a:r>
              <a:rPr lang="en-US" sz="1050" b="0" i="0" dirty="0">
                <a:effectLst/>
                <a:latin typeface="Menlo"/>
              </a:rPr>
              <a:t>, (</a:t>
            </a:r>
            <a:r>
              <a:rPr lang="en-US" sz="1050" b="0" i="0" dirty="0" err="1">
                <a:effectLst/>
                <a:latin typeface="Menlo"/>
              </a:rPr>
              <a:t>plotFormat</a:t>
            </a:r>
            <a:r>
              <a:rPr lang="en-US" sz="1050" b="0" i="0" dirty="0">
                <a:effectLst/>
                <a:latin typeface="Menlo"/>
              </a:rPr>
              <a:t>), (</a:t>
            </a:r>
            <a:r>
              <a:rPr lang="en-US" sz="1050" b="0" i="0" dirty="0" err="1">
                <a:effectLst/>
                <a:latin typeface="Menlo"/>
              </a:rPr>
              <a:t>reducedColorMap</a:t>
            </a:r>
            <a:r>
              <a:rPr lang="en-US" sz="1050" b="0" i="0" dirty="0">
                <a:effectLst/>
                <a:latin typeface="Menlo"/>
              </a:rPr>
              <a:t>), (</a:t>
            </a:r>
            <a:r>
              <a:rPr lang="en-US" sz="1050" b="0" i="0" dirty="0" err="1">
                <a:effectLst/>
                <a:latin typeface="Menlo"/>
              </a:rPr>
              <a:t>figNum</a:t>
            </a:r>
            <a:r>
              <a:rPr lang="en-US" sz="1050" b="0" i="0" dirty="0">
                <a:effectLst/>
                <a:latin typeface="Menlo"/>
              </a:rPr>
              <a:t>));</a:t>
            </a:r>
          </a:p>
          <a:p>
            <a:pPr>
              <a:buNone/>
            </a:pPr>
            <a:br>
              <a:rPr lang="en-US" sz="1050" b="0" i="0" dirty="0">
                <a:effectLst/>
                <a:latin typeface="Menlo"/>
              </a:rPr>
            </a:br>
            <a:r>
              <a:rPr lang="en-US" sz="1050" b="0" i="0" dirty="0" err="1">
                <a:effectLst/>
                <a:latin typeface="Menlo"/>
              </a:rPr>
              <a:t>h_colorbar</a:t>
            </a:r>
            <a:r>
              <a:rPr lang="en-US" sz="1050" b="0" i="0" dirty="0">
                <a:effectLst/>
                <a:latin typeface="Menlo"/>
              </a:rPr>
              <a:t> = </a:t>
            </a:r>
            <a:r>
              <a:rPr lang="en-US" sz="1050" b="0" i="0" dirty="0" err="1">
                <a:effectLst/>
                <a:latin typeface="Menlo"/>
              </a:rPr>
              <a:t>colorbar</a:t>
            </a:r>
            <a:r>
              <a:rPr lang="en-US" sz="1050" b="0" i="0" dirty="0">
                <a:effectLst/>
                <a:latin typeface="Menlo"/>
              </a:rPr>
              <a:t>;</a:t>
            </a:r>
          </a:p>
          <a:p>
            <a:pPr>
              <a:buNone/>
            </a:pPr>
            <a:r>
              <a:rPr lang="en-US" sz="1050" b="0" i="0" dirty="0" err="1">
                <a:effectLst/>
                <a:latin typeface="Menlo"/>
              </a:rPr>
              <a:t>h_colorbar.Ticks</a:t>
            </a:r>
            <a:r>
              <a:rPr lang="en-US" sz="1050" b="0" i="0" dirty="0">
                <a:effectLst/>
                <a:latin typeface="Menlo"/>
              </a:rPr>
              <a:t> = </a:t>
            </a:r>
            <a:r>
              <a:rPr lang="en-US" sz="1050" b="0" i="0" dirty="0" err="1">
                <a:effectLst/>
                <a:latin typeface="Menlo"/>
              </a:rPr>
              <a:t>linspace</a:t>
            </a:r>
            <a:r>
              <a:rPr lang="en-US" sz="1050" b="0" i="0" dirty="0">
                <a:effectLst/>
                <a:latin typeface="Menlo"/>
              </a:rPr>
              <a:t>(0, 1, </a:t>
            </a:r>
            <a:r>
              <a:rPr lang="en-US" sz="1050" b="0" i="0" dirty="0" err="1">
                <a:effectLst/>
                <a:latin typeface="Menlo"/>
              </a:rPr>
              <a:t>Ncolors</a:t>
            </a:r>
            <a:r>
              <a:rPr lang="en-US" sz="1050" b="0" i="0" dirty="0">
                <a:effectLst/>
                <a:latin typeface="Menlo"/>
              </a:rPr>
              <a:t>) ; </a:t>
            </a:r>
            <a:r>
              <a:rPr lang="en-US" sz="1050" b="0" i="0" dirty="0">
                <a:solidFill>
                  <a:srgbClr val="008013"/>
                </a:solidFill>
                <a:effectLst/>
                <a:latin typeface="Menlo"/>
              </a:rPr>
              <a:t>%Create ticks from zero to 1</a:t>
            </a:r>
            <a:endParaRPr lang="en-US" sz="1050" b="0" i="0" dirty="0">
              <a:effectLst/>
              <a:latin typeface="Menlo"/>
            </a:endParaRPr>
          </a:p>
          <a:p>
            <a:pPr>
              <a:buNone/>
            </a:pPr>
            <a:r>
              <a:rPr lang="en-US" sz="1050" b="0" i="0" dirty="0">
                <a:solidFill>
                  <a:srgbClr val="008013"/>
                </a:solidFill>
                <a:effectLst/>
                <a:latin typeface="Menlo"/>
              </a:rPr>
              <a:t>% There are 2.23694 mph in 1 m/s</a:t>
            </a:r>
            <a:endParaRPr lang="en-US" sz="1050" b="0" i="0" dirty="0">
              <a:effectLst/>
              <a:latin typeface="Menlo"/>
            </a:endParaRPr>
          </a:p>
          <a:p>
            <a:pPr>
              <a:buNone/>
            </a:pPr>
            <a:r>
              <a:rPr lang="en-US" sz="1050" b="0" i="0" dirty="0">
                <a:effectLst/>
                <a:latin typeface="Menlo"/>
              </a:rPr>
              <a:t>velocity = </a:t>
            </a:r>
            <a:r>
              <a:rPr lang="en-US" sz="1050" b="0" i="0" dirty="0" err="1">
                <a:effectLst/>
                <a:latin typeface="Menlo"/>
              </a:rPr>
              <a:t>positionsAndSpeeds</a:t>
            </a:r>
            <a:r>
              <a:rPr lang="en-US" sz="1050" b="0" i="0" dirty="0">
                <a:effectLst/>
                <a:latin typeface="Menlo"/>
              </a:rPr>
              <a:t>(:,3);</a:t>
            </a:r>
          </a:p>
          <a:p>
            <a:pPr>
              <a:buNone/>
            </a:pPr>
            <a:r>
              <a:rPr lang="en-US" sz="1050" b="0" i="0" dirty="0" err="1">
                <a:effectLst/>
                <a:latin typeface="Menlo"/>
              </a:rPr>
              <a:t>colorbarValues</a:t>
            </a:r>
            <a:r>
              <a:rPr lang="en-US" sz="1050" b="0" i="0" dirty="0">
                <a:effectLst/>
                <a:latin typeface="Menlo"/>
              </a:rPr>
              <a:t> = round(2.23694 * </a:t>
            </a:r>
            <a:r>
              <a:rPr lang="en-US" sz="1050" b="0" i="0" dirty="0" err="1">
                <a:effectLst/>
                <a:latin typeface="Menlo"/>
              </a:rPr>
              <a:t>linspace</a:t>
            </a:r>
            <a:r>
              <a:rPr lang="en-US" sz="1050" b="0" i="0" dirty="0">
                <a:effectLst/>
                <a:latin typeface="Menlo"/>
              </a:rPr>
              <a:t>(min(velocity), max(velocity), </a:t>
            </a:r>
            <a:r>
              <a:rPr lang="en-US" sz="1050" b="0" i="0" dirty="0" err="1">
                <a:effectLst/>
                <a:latin typeface="Menlo"/>
              </a:rPr>
              <a:t>Ncolors</a:t>
            </a:r>
            <a:r>
              <a:rPr lang="en-US" sz="1050" b="0" i="0" dirty="0">
                <a:effectLst/>
                <a:latin typeface="Menlo"/>
              </a:rPr>
              <a:t>));</a:t>
            </a:r>
          </a:p>
          <a:p>
            <a:pPr>
              <a:buNone/>
            </a:pPr>
            <a:r>
              <a:rPr lang="en-US" sz="1050" b="0" i="0" dirty="0" err="1">
                <a:effectLst/>
                <a:latin typeface="Menlo"/>
              </a:rPr>
              <a:t>h_colorbar.TickLabels</a:t>
            </a:r>
            <a:r>
              <a:rPr lang="en-US" sz="1050" b="0" i="0" dirty="0">
                <a:effectLst/>
                <a:latin typeface="Menlo"/>
              </a:rPr>
              <a:t> = num2cell(</a:t>
            </a:r>
            <a:r>
              <a:rPr lang="en-US" sz="1050" b="0" i="0" dirty="0" err="1">
                <a:effectLst/>
                <a:latin typeface="Menlo"/>
              </a:rPr>
              <a:t>colorbarValues</a:t>
            </a:r>
            <a:r>
              <a:rPr lang="en-US" sz="1050" b="0" i="0" dirty="0">
                <a:effectLst/>
                <a:latin typeface="Menlo"/>
              </a:rPr>
              <a:t>) ; </a:t>
            </a:r>
          </a:p>
          <a:p>
            <a:pPr>
              <a:buNone/>
            </a:pPr>
            <a:r>
              <a:rPr lang="en-US" sz="1050" b="0" i="0" dirty="0" err="1">
                <a:effectLst/>
                <a:latin typeface="Menlo"/>
              </a:rPr>
              <a:t>h_colorbar.Label.String</a:t>
            </a:r>
            <a:r>
              <a:rPr lang="en-US" sz="1050" b="0" i="0" dirty="0">
                <a:effectLst/>
                <a:latin typeface="Menlo"/>
              </a:rPr>
              <a:t> = </a:t>
            </a:r>
            <a:r>
              <a:rPr lang="en-US" sz="1050" b="0" i="0" dirty="0">
                <a:solidFill>
                  <a:srgbClr val="A709F5"/>
                </a:solidFill>
                <a:effectLst/>
                <a:latin typeface="Menlo"/>
              </a:rPr>
              <a:t>'Speed (mph)'</a:t>
            </a:r>
            <a:r>
              <a:rPr lang="en-US" sz="1050" b="0" i="0" dirty="0">
                <a:effectLst/>
                <a:latin typeface="Menlo"/>
              </a:rPr>
              <a:t>;</a:t>
            </a:r>
          </a:p>
          <a:p>
            <a:endParaRPr lang="en-US" sz="1050" dirty="0"/>
          </a:p>
        </p:txBody>
      </p:sp>
    </p:spTree>
    <p:extLst>
      <p:ext uri="{BB962C8B-B14F-4D97-AF65-F5344CB8AC3E}">
        <p14:creationId xmlns:p14="http://schemas.microsoft.com/office/powerpoint/2010/main" val="270343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CDA70-872E-5CC5-1B05-FFB539EC2B3C}"/>
              </a:ext>
            </a:extLst>
          </p:cNvPr>
          <p:cNvSpPr>
            <a:spLocks noGrp="1"/>
          </p:cNvSpPr>
          <p:nvPr>
            <p:ph type="title"/>
          </p:nvPr>
        </p:nvSpPr>
        <p:spPr/>
        <p:txBody>
          <a:bodyPr/>
          <a:lstStyle/>
          <a:p>
            <a:r>
              <a:rPr lang="en-US" dirty="0"/>
              <a:t>We use the </a:t>
            </a:r>
            <a:r>
              <a:rPr lang="en-US" dirty="0" err="1"/>
              <a:t>PlotRoad</a:t>
            </a:r>
            <a:r>
              <a:rPr lang="en-US" dirty="0"/>
              <a:t> library to do the plotting</a:t>
            </a:r>
          </a:p>
        </p:txBody>
      </p:sp>
      <p:pic>
        <p:nvPicPr>
          <p:cNvPr id="5" name="Picture 4">
            <a:extLst>
              <a:ext uri="{FF2B5EF4-FFF2-40B4-BE49-F238E27FC236}">
                <a16:creationId xmlns:a16="http://schemas.microsoft.com/office/drawing/2014/main" id="{2B70B8F4-E830-AA23-F7FA-EBA3FB008D3D}"/>
              </a:ext>
            </a:extLst>
          </p:cNvPr>
          <p:cNvPicPr>
            <a:picLocks noChangeAspect="1"/>
          </p:cNvPicPr>
          <p:nvPr/>
        </p:nvPicPr>
        <p:blipFill>
          <a:blip r:embed="rId2"/>
          <a:stretch>
            <a:fillRect/>
          </a:stretch>
        </p:blipFill>
        <p:spPr>
          <a:xfrm>
            <a:off x="2305049" y="1825625"/>
            <a:ext cx="7180367" cy="4515079"/>
          </a:xfrm>
          <a:prstGeom prst="rect">
            <a:avLst/>
          </a:prstGeom>
        </p:spPr>
      </p:pic>
    </p:spTree>
    <p:extLst>
      <p:ext uri="{BB962C8B-B14F-4D97-AF65-F5344CB8AC3E}">
        <p14:creationId xmlns:p14="http://schemas.microsoft.com/office/powerpoint/2010/main" val="706758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6CFF1-838A-664D-3A5D-883800ED9485}"/>
              </a:ext>
            </a:extLst>
          </p:cNvPr>
          <p:cNvSpPr>
            <a:spLocks noGrp="1"/>
          </p:cNvSpPr>
          <p:nvPr>
            <p:ph type="title"/>
          </p:nvPr>
        </p:nvSpPr>
        <p:spPr/>
        <p:txBody>
          <a:bodyPr/>
          <a:lstStyle/>
          <a:p>
            <a:r>
              <a:rPr lang="en-US" dirty="0"/>
              <a:t>We can also colorize data by speed</a:t>
            </a:r>
          </a:p>
        </p:txBody>
      </p:sp>
      <p:pic>
        <p:nvPicPr>
          <p:cNvPr id="5" name="Picture 4">
            <a:extLst>
              <a:ext uri="{FF2B5EF4-FFF2-40B4-BE49-F238E27FC236}">
                <a16:creationId xmlns:a16="http://schemas.microsoft.com/office/drawing/2014/main" id="{5E2F4BE5-AB08-512B-8C65-2F822AC726B1}"/>
              </a:ext>
            </a:extLst>
          </p:cNvPr>
          <p:cNvPicPr>
            <a:picLocks noChangeAspect="1"/>
          </p:cNvPicPr>
          <p:nvPr/>
        </p:nvPicPr>
        <p:blipFill>
          <a:blip r:embed="rId2"/>
          <a:stretch>
            <a:fillRect/>
          </a:stretch>
        </p:blipFill>
        <p:spPr>
          <a:xfrm>
            <a:off x="1657350" y="1584874"/>
            <a:ext cx="8262028" cy="5133425"/>
          </a:xfrm>
          <a:prstGeom prst="rect">
            <a:avLst/>
          </a:prstGeom>
        </p:spPr>
      </p:pic>
    </p:spTree>
    <p:extLst>
      <p:ext uri="{BB962C8B-B14F-4D97-AF65-F5344CB8AC3E}">
        <p14:creationId xmlns:p14="http://schemas.microsoft.com/office/powerpoint/2010/main" val="1615372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0424-67F7-08F2-E88E-5C6057F7D536}"/>
              </a:ext>
            </a:extLst>
          </p:cNvPr>
          <p:cNvSpPr>
            <a:spLocks noGrp="1"/>
          </p:cNvSpPr>
          <p:nvPr>
            <p:ph type="title"/>
          </p:nvPr>
        </p:nvSpPr>
        <p:spPr/>
        <p:txBody>
          <a:bodyPr/>
          <a:lstStyle/>
          <a:p>
            <a:r>
              <a:rPr lang="en-US" dirty="0"/>
              <a:t>Note: MATLAB has a more complicated example online</a:t>
            </a:r>
          </a:p>
        </p:txBody>
      </p:sp>
      <p:sp>
        <p:nvSpPr>
          <p:cNvPr id="3" name="Content Placeholder 2">
            <a:extLst>
              <a:ext uri="{FF2B5EF4-FFF2-40B4-BE49-F238E27FC236}">
                <a16:creationId xmlns:a16="http://schemas.microsoft.com/office/drawing/2014/main" id="{7BB755A3-03AA-229A-95AF-7C916D86695B}"/>
              </a:ext>
            </a:extLst>
          </p:cNvPr>
          <p:cNvSpPr>
            <a:spLocks noGrp="1"/>
          </p:cNvSpPr>
          <p:nvPr>
            <p:ph idx="1"/>
          </p:nvPr>
        </p:nvSpPr>
        <p:spPr/>
        <p:txBody>
          <a:bodyPr/>
          <a:lstStyle/>
          <a:p>
            <a:pPr marL="0" indent="0">
              <a:buNone/>
            </a:pPr>
            <a:r>
              <a:rPr lang="en-US" dirty="0"/>
              <a:t>See: </a:t>
            </a:r>
            <a:r>
              <a:rPr lang="en-US" dirty="0">
                <a:hlinkClick r:id="rId2"/>
              </a:rPr>
              <a:t>https://www.mathworks.com/help/matlabmobile/ug/acquire-gps-data-and-plot-your-location-and-speed-on-a-map.html</a:t>
            </a:r>
            <a:r>
              <a:rPr lang="en-US" dirty="0"/>
              <a:t> </a:t>
            </a:r>
          </a:p>
        </p:txBody>
      </p:sp>
    </p:spTree>
    <p:extLst>
      <p:ext uri="{BB962C8B-B14F-4D97-AF65-F5344CB8AC3E}">
        <p14:creationId xmlns:p14="http://schemas.microsoft.com/office/powerpoint/2010/main" val="2649235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1529</Words>
  <Application>Microsoft Office PowerPoint</Application>
  <PresentationFormat>Widescreen</PresentationFormat>
  <Paragraphs>144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Menlo</vt:lpstr>
      <vt:lpstr>Office Theme</vt:lpstr>
      <vt:lpstr>How to Do HW 1 Recording and Plotting GPS Data from Your Phone</vt:lpstr>
      <vt:lpstr>Collect some data!</vt:lpstr>
      <vt:lpstr>First step: install the MATLAB app on your phone</vt:lpstr>
      <vt:lpstr>Next, record data. Open up the sensors panel via the drop-down menu:</vt:lpstr>
      <vt:lpstr>Make sure the Stream-to is set to “Log”. In the “Sampling Parameters”, set the speed to 100Hz (fastest possible), and turn on all sensors except microphone.</vt:lpstr>
      <vt:lpstr>When you are ready to record, hit “Start”. When you are done, hit “Stop”. The logs will update.</vt:lpstr>
      <vt:lpstr>Critical note: the data will NOT record if the MATLAB app is not the active app on the phone. </vt:lpstr>
      <vt:lpstr>Move the data from the cloud to your homework folder</vt:lpstr>
      <vt:lpstr>On the computer (NOT your phone)</vt:lpstr>
      <vt:lpstr>It may ask you to install. Once it is working, you should be able to see folders that contain your MobileSensorData</vt:lpstr>
      <vt:lpstr>Select the log files, and then left-click to “Show in Explorer” to see where they are on your computer. Move these to your homework folder</vt:lpstr>
      <vt:lpstr>Suggest that your HW be kept in a subfolder with your CanvasID and HW1 in the name. See below for Dr. B (9000000)</vt:lpstr>
      <vt:lpstr>Plot the data</vt:lpstr>
      <vt:lpstr>Next, load the data using a script. Make a new file in the editor, save it as a script in your HW folder </vt:lpstr>
      <vt:lpstr>Make sure to run the “script_demo_2026Fall” code here. This will force MATLAB to add your homework folder to its working path</vt:lpstr>
      <vt:lpstr>Edit the script to load the files of data (use your own file names)</vt:lpstr>
      <vt:lpstr>The second part of the script loads the data</vt:lpstr>
      <vt:lpstr>The third and fourth sections plot the data</vt:lpstr>
      <vt:lpstr>We use the PlotRoad library to do the plotting</vt:lpstr>
      <vt:lpstr>We can also colorize data by speed</vt:lpstr>
      <vt:lpstr>Note: MATLAB has a more complicated example online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Brennan, Sean N</dc:creator>
  <cp:lastModifiedBy>Brennan, Sean N</cp:lastModifiedBy>
  <cp:revision>4</cp:revision>
  <dcterms:created xsi:type="dcterms:W3CDTF">2026-09-18T15:12:38Z</dcterms:created>
  <dcterms:modified xsi:type="dcterms:W3CDTF">2026-09-18T20:22:51Z</dcterms:modified>
</cp:coreProperties>
</file>